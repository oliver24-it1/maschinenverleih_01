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470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Ich stelle euch heute die Ergebnisse aus meinen User Stories vor. Ich fange direkt mit dem Ergebnis an, also mit unserem fertigen Design, und zeige euch danach, wie ich darauf gekommen bin.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das Ergebnis: Kettenhof NRW mit dem Slogan „Leih an Rhein und Ruhr, rund um die Uhr“. Die Farben sind Schwarz, Petrol und Orange nach der 60-30-10-Regel. Als Schrift nutzen wir Geist, The FrontMan steckt nur im Logo.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sieht das Design später auf der Website aus: oben das Logo, groß der Slogan, darunter die Suche nach Maschine, Filiale und Zeitraum. Schwarz ist die Grundfarbe, Petrol für Suche und Kacheln, Orange nur für Buttons und Preise. Und jetzt die Frage: Wie bin ich darauf gekommen?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jetzt die Frage: Wie bin ich darauf gekommen?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bin in drei Schritten vorgegangen: zuerst die Marktanalyse, dann Marketingziele, Strategien und Zielgruppe, und erst danach das Corporate Design.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Marktanalyse habe ich PESTEL, Porter's Five Forces und eine Benchmark der Wettbewerber gemacht. Die SWOT-Analyse fasst alles zusammen. Unsere Stärke ist das Filialnetz, die Schwäche der digitale Rückstand. Die größte Chance: Keiner der Wettbewerber bietet eine echte Online-Buchung. Das größte Risiko ist der starke Wettbewerb.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zweiten Schritt habe ich sechs Marketingziele nach SMART festgelegt, zum Beispiel 25 Prozent Online-Buchungen bis Ende 2027. Bei den Strategien setzen wir auf Marktdurchdringung und Differenzierung statt Preiskampf, zuerst auf Bekanntheit und bleiben bewusst in NRW.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dem STP-Ansatz habe ich den Markt in vier Segmente aufgeteilt und mich auf kleine und mittlere Bau- und Handwerksbetriebe in NRW konzentriert, weil sie Geräte schnell und in der Nähe brauchen. Wir positionieren uns mittelpreisig mit Online-Buchung. Im Positionierungskreuz seht ihr: Oben in der Mitte ist noch Platz, da wollen wir hin.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dritten Schritt habe ich mir zuerst angeschaut, wie die Konkurrenz auftritt: elf Anbieter, verglichen nach Logo, Farben, Schrift und Slogan. Fast alle nutzen Warnfarben, fast nur Wortmarken, keiner nennt die Region und Roboto ist überall. Daraus habe ich abgeleitet, wo wir uns abheben können.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Danach habe ich alles verglichen: 19 mögliche Namen, Kettenhof passt, weil Kette für Baggerkette, Sägekette und Filialkette steht. 18 Farbkombinationen, gewonnen hat Schwarz, Petrol und Orange. 23 Schriftkombinationen und 17 Logo-Entwürfe. Daraus ist das fertige Design entstanden, das ihr am Anfang gesehen habt.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der Überblick: Ich habe die User Stories 24, 25 und 39 bearbeitet, also Marktanalyse, Marketingziele und Strategien und das Corporate Design. Alle drei sind fertig. Als Nächstes geht es mit dem Marketing-Mix und dem Sales Funnel weiter. Danke fürs Zuhören.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Danke fürs Zuhören. Kettenhof NRW: Leih an Rhein und Ruhr, rund um die Uhr.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80020"/>
          </a:xfrm>
          <a:prstGeom prst="rect">
            <a:avLst/>
          </a:prstGeom>
          <a:noFill/>
          <a:ln/>
        </p:spPr>
        <p:txBody>
          <a:bodyPr wrap="square" lIns="0" tIns="0" rIns="0" bIns="0" rtlCol="0" anchor="t"/>
          <a:lstStyle>
            <a:lvl1pPr marL="0" indent="0" algn="l">
              <a:lnSpc>
                <a:spcPct val="115000"/>
              </a:lnSpc>
              <a:buNone/>
              <a:defRPr lang="en-US" sz="3600" dirty="0">
                <a:solidFill>
                  <a:srgbClr val="FFFFFF"/>
                </a:solidFill>
                <a:latin typeface="Geist" pitchFamily="34" charset="0"/>
                <a:ea typeface="Geist" pitchFamily="34" charset="-122"/>
                <a:cs typeface="Geist"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597620"/>
            <a:ext cx="10566400" cy="4447580"/>
          </a:xfrm>
          <a:prstGeom prst="rect">
            <a:avLst/>
          </a:prstGeom>
          <a:noFill/>
          <a:ln/>
        </p:spPr>
        <p:txBody>
          <a:bodyPr wrap="square" lIns="0" tIns="0" rIns="0" bIns="0" rtlCol="0" anchor="t"/>
          <a:lstStyle>
            <a:lvl1pPr marL="0" indent="0" algn="l">
              <a:lnSpc>
                <a:spcPct val="140000"/>
              </a:lnSpc>
              <a:buNone/>
              <a:defRPr lang="en-US" sz="1600" dirty="0">
                <a:solidFill>
                  <a:srgbClr val="FFFFFF"/>
                </a:solidFill>
                <a:latin typeface="Geist" pitchFamily="34" charset="0"/>
                <a:ea typeface="Geist" pitchFamily="34" charset="-122"/>
                <a:cs typeface="Geist"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80020"/>
          </a:xfrm>
          <a:prstGeom prst="rect">
            <a:avLst/>
          </a:prstGeom>
          <a:noFill/>
          <a:ln/>
        </p:spPr>
        <p:txBody>
          <a:bodyPr wrap="square" lIns="0" tIns="0" rIns="0" bIns="0" rtlCol="0" anchor="t"/>
          <a:lstStyle>
            <a:lvl1pPr marL="0" indent="0" algn="l">
              <a:lnSpc>
                <a:spcPct val="115000"/>
              </a:lnSpc>
              <a:buNone/>
              <a:defRPr lang="en-US" sz="3600" dirty="0">
                <a:solidFill>
                  <a:srgbClr val="FFFFFF"/>
                </a:solidFill>
                <a:latin typeface="Geist" pitchFamily="34" charset="0"/>
                <a:ea typeface="Geist" pitchFamily="34" charset="-122"/>
                <a:cs typeface="Geist"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597620"/>
            <a:ext cx="10566400" cy="4447580"/>
          </a:xfrm>
          <a:prstGeom prst="rect">
            <a:avLst/>
          </a:prstGeom>
          <a:noFill/>
          <a:ln/>
        </p:spPr>
        <p:txBody>
          <a:bodyPr wrap="square" lIns="0" tIns="0" rIns="0" bIns="0" rtlCol="0" anchor="t"/>
          <a:lstStyle>
            <a:lvl1pPr marL="0" indent="0" algn="l">
              <a:lnSpc>
                <a:spcPct val="140000"/>
              </a:lnSpc>
              <a:buNone/>
              <a:defRPr lang="en-US" sz="1600" dirty="0">
                <a:solidFill>
                  <a:srgbClr val="FFFFFF"/>
                </a:solidFill>
                <a:latin typeface="Geist" pitchFamily="34" charset="0"/>
                <a:ea typeface="Geist" pitchFamily="34" charset="-122"/>
                <a:cs typeface="Geist"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2" name="Image 0" descr="Logo Kettenhof NRW, Maschinenverleih NRW"/>
          <p:cNvPicPr>
            <a:picLocks noChangeAspect="1"/>
          </p:cNvPicPr>
          <p:nvPr/>
        </p:nvPicPr>
        <p:blipFill>
          <a:blip r:embed="rId3"/>
          <a:srcRect/>
          <a:stretch/>
        </p:blipFill>
        <p:spPr>
          <a:xfrm>
            <a:off x="1016000" y="381000"/>
            <a:ext cx="10160000" cy="5715000"/>
          </a:xfrm>
          <a:prstGeom prst="rect">
            <a:avLst/>
          </a:prstGeom>
        </p:spPr>
      </p:pic>
      <p:sp>
        <p:nvSpPr>
          <p:cNvPr id="3" name="Text 0"/>
          <p:cNvSpPr/>
          <p:nvPr/>
        </p:nvSpPr>
        <p:spPr>
          <a:xfrm>
            <a:off x="812800" y="6238280"/>
            <a:ext cx="7194550"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FFFFF"/>
                </a:solidFill>
                <a:latin typeface="Geist" pitchFamily="34" charset="0"/>
                <a:ea typeface="Geist" pitchFamily="34" charset="-122"/>
                <a:cs typeface="Geist" pitchFamily="34" charset="-120"/>
              </a:rPr>
              <a:t>SPRINT-REVIEW 15.10 | USER STORIES #24, #25 UND #39</a:t>
            </a:r>
            <a:endParaRPr lang="en-US" sz="1200" dirty="0"/>
          </a:p>
        </p:txBody>
      </p:sp>
      <p:sp>
        <p:nvSpPr>
          <p:cNvPr id="4" name="Text 1"/>
          <p:cNvSpPr/>
          <p:nvPr/>
        </p:nvSpPr>
        <p:spPr>
          <a:xfrm>
            <a:off x="8108950" y="6238280"/>
            <a:ext cx="327025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26A1B"/>
                </a:solidFill>
                <a:latin typeface="Geist" pitchFamily="34" charset="0"/>
                <a:ea typeface="Geist" pitchFamily="34" charset="-122"/>
                <a:cs typeface="Geist" pitchFamily="34" charset="-120"/>
              </a:rPr>
              <a:t>Jonas Strömich | Gruppe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A1B"/>
                </a:solidFill>
                <a:latin typeface="Geist" pitchFamily="34" charset="0"/>
                <a:ea typeface="Geist" pitchFamily="34" charset="-122"/>
                <a:cs typeface="Geist" pitchFamily="34" charset="-120"/>
              </a:rPr>
              <a:t>Finales Desing Konzept</a:t>
            </a:r>
            <a:endParaRPr lang="en-US" sz="1200" dirty="0"/>
          </a:p>
        </p:txBody>
      </p:sp>
      <p:sp>
        <p:nvSpPr>
          <p:cNvPr id="3" name="Text 1"/>
          <p:cNvSpPr>
            <a:spLocks noGrp="1"/>
          </p:cNvSpPr>
          <p:nvPr>
            <p:ph type="title"/>
          </p:nvPr>
        </p:nvSpPr>
        <p:spPr>
          <a:xfrm>
            <a:off x="812800" y="112772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KETTENHOF NRW</a:t>
            </a:r>
            <a:endParaRPr lang="en-US" sz="3600" dirty="0"/>
          </a:p>
        </p:txBody>
      </p:sp>
      <p:sp>
        <p:nvSpPr>
          <p:cNvPr id="4" name="Text 2"/>
          <p:cNvSpPr/>
          <p:nvPr/>
        </p:nvSpPr>
        <p:spPr>
          <a:xfrm>
            <a:off x="812800" y="1709341"/>
            <a:ext cx="10883392"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FFFFF"/>
                </a:solidFill>
                <a:latin typeface="Geist" pitchFamily="34" charset="0"/>
                <a:ea typeface="Geist" pitchFamily="34" charset="-122"/>
                <a:cs typeface="Geist" pitchFamily="34" charset="-120"/>
              </a:rPr>
              <a:t>„Leih an Rhein und Ruhr, rund um die Uhr“</a:t>
            </a:r>
            <a:endParaRPr lang="en-US" sz="1800" dirty="0"/>
          </a:p>
        </p:txBody>
      </p:sp>
      <p:pic>
        <p:nvPicPr>
          <p:cNvPr id="5" name="Image 0" descr="Logo N von Kettenhof NRW mit Kettengliedern an der orangen Linie"/>
          <p:cNvPicPr>
            <a:picLocks noChangeAspect="1"/>
          </p:cNvPicPr>
          <p:nvPr/>
        </p:nvPicPr>
        <p:blipFill>
          <a:blip r:embed="rId3"/>
          <a:srcRect l="-196" r="-196"/>
          <a:stretch/>
        </p:blipFill>
        <p:spPr>
          <a:xfrm>
            <a:off x="825500" y="3051175"/>
            <a:ext cx="5054600" cy="2832100"/>
          </a:xfrm>
          <a:prstGeom prst="rect">
            <a:avLst/>
          </a:prstGeom>
        </p:spPr>
      </p:pic>
      <p:sp>
        <p:nvSpPr>
          <p:cNvPr id="6" name="Shape 3"/>
          <p:cNvSpPr/>
          <p:nvPr/>
        </p:nvSpPr>
        <p:spPr>
          <a:xfrm>
            <a:off x="819150" y="3044825"/>
            <a:ext cx="5067300" cy="2844800"/>
          </a:xfrm>
          <a:prstGeom prst="rect">
            <a:avLst/>
          </a:prstGeom>
          <a:noFill/>
          <a:ln w="12700">
            <a:solidFill>
              <a:srgbClr val="1F5F6B"/>
            </a:solidFill>
            <a:prstDash val="solid"/>
          </a:ln>
        </p:spPr>
        <p:txBody>
          <a:bodyPr/>
          <a:lstStyle/>
          <a:p>
            <a:endParaRPr lang="de-DE"/>
          </a:p>
        </p:txBody>
      </p:sp>
      <p:sp>
        <p:nvSpPr>
          <p:cNvPr id="7" name="Text 4"/>
          <p:cNvSpPr/>
          <p:nvPr/>
        </p:nvSpPr>
        <p:spPr>
          <a:xfrm>
            <a:off x="6299200" y="2890143"/>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Farben nach 60-30-10</a:t>
            </a:r>
            <a:endParaRPr lang="en-US" sz="1200" dirty="0"/>
          </a:p>
        </p:txBody>
      </p:sp>
      <p:sp>
        <p:nvSpPr>
          <p:cNvPr id="8" name="Shape 5"/>
          <p:cNvSpPr/>
          <p:nvPr/>
        </p:nvSpPr>
        <p:spPr>
          <a:xfrm>
            <a:off x="6305550" y="3186013"/>
            <a:ext cx="2954040" cy="444500"/>
          </a:xfrm>
          <a:prstGeom prst="rect">
            <a:avLst/>
          </a:prstGeom>
          <a:solidFill>
            <a:srgbClr val="000000"/>
          </a:solidFill>
          <a:ln w="12700">
            <a:solidFill>
              <a:srgbClr val="FFFFFF"/>
            </a:solidFill>
            <a:prstDash val="solid"/>
          </a:ln>
        </p:spPr>
        <p:txBody>
          <a:bodyPr/>
          <a:lstStyle/>
          <a:p>
            <a:endParaRPr lang="de-DE"/>
          </a:p>
        </p:txBody>
      </p:sp>
      <p:sp>
        <p:nvSpPr>
          <p:cNvPr id="9" name="Shape 6"/>
          <p:cNvSpPr/>
          <p:nvPr/>
        </p:nvSpPr>
        <p:spPr>
          <a:xfrm>
            <a:off x="9342140" y="3179663"/>
            <a:ext cx="1470620" cy="457200"/>
          </a:xfrm>
          <a:prstGeom prst="rect">
            <a:avLst/>
          </a:prstGeom>
          <a:solidFill>
            <a:srgbClr val="1F5F6B"/>
          </a:solidFill>
          <a:ln/>
        </p:spPr>
        <p:txBody>
          <a:bodyPr/>
          <a:lstStyle/>
          <a:p>
            <a:endParaRPr lang="de-DE"/>
          </a:p>
        </p:txBody>
      </p:sp>
      <p:sp>
        <p:nvSpPr>
          <p:cNvPr id="10" name="Shape 7"/>
          <p:cNvSpPr/>
          <p:nvPr/>
        </p:nvSpPr>
        <p:spPr>
          <a:xfrm>
            <a:off x="10888960" y="3179663"/>
            <a:ext cx="490240" cy="457200"/>
          </a:xfrm>
          <a:prstGeom prst="rect">
            <a:avLst/>
          </a:prstGeom>
          <a:solidFill>
            <a:srgbClr val="F26A1B"/>
          </a:solidFill>
          <a:ln/>
        </p:spPr>
        <p:txBody>
          <a:bodyPr/>
          <a:lstStyle/>
          <a:p>
            <a:endParaRPr lang="de-DE"/>
          </a:p>
        </p:txBody>
      </p:sp>
      <p:sp>
        <p:nvSpPr>
          <p:cNvPr id="11" name="Text 8"/>
          <p:cNvSpPr/>
          <p:nvPr/>
        </p:nvSpPr>
        <p:spPr>
          <a:xfrm>
            <a:off x="6299200" y="3713063"/>
            <a:ext cx="52324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Geist" pitchFamily="34" charset="0"/>
                <a:ea typeface="Geist" pitchFamily="34" charset="-122"/>
                <a:cs typeface="Geist" pitchFamily="34" charset="-120"/>
              </a:rPr>
              <a:t>Schwarz 60 % | Petrol 30 % | Orange 10 %</a:t>
            </a:r>
            <a:endParaRPr lang="en-US" sz="1400" dirty="0"/>
          </a:p>
        </p:txBody>
      </p:sp>
      <p:sp>
        <p:nvSpPr>
          <p:cNvPr id="12" name="Text 9"/>
          <p:cNvSpPr/>
          <p:nvPr/>
        </p:nvSpPr>
        <p:spPr>
          <a:xfrm>
            <a:off x="6299200" y="4215904"/>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Schrift</a:t>
            </a:r>
            <a:endParaRPr lang="en-US" sz="1200" dirty="0"/>
          </a:p>
        </p:txBody>
      </p:sp>
      <p:sp>
        <p:nvSpPr>
          <p:cNvPr id="13" name="Text 10"/>
          <p:cNvSpPr/>
          <p:nvPr/>
        </p:nvSpPr>
        <p:spPr>
          <a:xfrm>
            <a:off x="6305550" y="4483672"/>
            <a:ext cx="5232400"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Geist" pitchFamily="34" charset="0"/>
                <a:ea typeface="Geist" pitchFamily="34" charset="-122"/>
                <a:cs typeface="Geist" pitchFamily="34" charset="-120"/>
              </a:rPr>
              <a:t>Logo: The FrontMan</a:t>
            </a:r>
            <a:endParaRPr lang="en-US" sz="1400" dirty="0"/>
          </a:p>
          <a:p>
            <a:pPr marL="0" indent="0" algn="l">
              <a:lnSpc>
                <a:spcPts val="1960"/>
              </a:lnSpc>
              <a:buNone/>
            </a:pPr>
            <a:r>
              <a:rPr lang="en-US" sz="1400" dirty="0">
                <a:solidFill>
                  <a:srgbClr val="FFFFFF"/>
                </a:solidFill>
                <a:latin typeface="Geist" pitchFamily="34" charset="0"/>
                <a:ea typeface="Geist" pitchFamily="34" charset="-122"/>
                <a:cs typeface="Geist" pitchFamily="34" charset="-120"/>
              </a:rPr>
              <a:t>Texte: Geist</a:t>
            </a:r>
            <a:endParaRPr lang="en-US" sz="1400" dirty="0"/>
          </a:p>
          <a:p>
            <a:pPr marL="0" indent="0" algn="l">
              <a:lnSpc>
                <a:spcPts val="1960"/>
              </a:lnSpc>
              <a:buNone/>
            </a:pPr>
            <a:r>
              <a:rPr lang="en-US" sz="1400" dirty="0">
                <a:solidFill>
                  <a:srgbClr val="FFFFFF"/>
                </a:solidFill>
                <a:latin typeface="Geist" pitchFamily="34" charset="0"/>
                <a:ea typeface="Geist" pitchFamily="34" charset="-122"/>
                <a:cs typeface="Geist" pitchFamily="34" charset="-120"/>
              </a:rPr>
              <a:t>Buttons und Überschriften: Geist fett</a:t>
            </a:r>
            <a:endParaRPr lang="en-US" sz="1400" dirty="0"/>
          </a:p>
        </p:txBody>
      </p:sp>
      <p:sp>
        <p:nvSpPr>
          <p:cNvPr id="14" name="Text 11"/>
          <p:cNvSpPr/>
          <p:nvPr/>
        </p:nvSpPr>
        <p:spPr>
          <a:xfrm>
            <a:off x="6305550" y="5505946"/>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Logo</a:t>
            </a:r>
            <a:endParaRPr lang="en-US" sz="1200" dirty="0"/>
          </a:p>
        </p:txBody>
      </p:sp>
      <p:sp>
        <p:nvSpPr>
          <p:cNvPr id="15" name="Text 12"/>
          <p:cNvSpPr/>
          <p:nvPr/>
        </p:nvSpPr>
        <p:spPr>
          <a:xfrm>
            <a:off x="6299200" y="5795466"/>
            <a:ext cx="52324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Geist" pitchFamily="34" charset="0"/>
                <a:ea typeface="Geist" pitchFamily="34" charset="-122"/>
                <a:cs typeface="Geist" pitchFamily="34" charset="-120"/>
              </a:rPr>
              <a:t>Spiegelt die Kette im Namen wieder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pic>
        <p:nvPicPr>
          <p:cNvPr id="2" name="Image 0" descr="Logo Kettenhof NRW"/>
          <p:cNvPicPr>
            <a:picLocks noChangeAspect="1"/>
          </p:cNvPicPr>
          <p:nvPr/>
        </p:nvPicPr>
        <p:blipFill>
          <a:blip r:embed="rId3"/>
          <a:srcRect t="-101" b="-101"/>
          <a:stretch/>
        </p:blipFill>
        <p:spPr>
          <a:xfrm>
            <a:off x="254000" y="0"/>
            <a:ext cx="2794000" cy="1574800"/>
          </a:xfrm>
          <a:prstGeom prst="rect">
            <a:avLst/>
          </a:prstGeom>
        </p:spPr>
      </p:pic>
      <p:sp>
        <p:nvSpPr>
          <p:cNvPr id="3" name="Text 0"/>
          <p:cNvSpPr/>
          <p:nvPr/>
        </p:nvSpPr>
        <p:spPr>
          <a:xfrm>
            <a:off x="6066234" y="635000"/>
            <a:ext cx="91154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Geist" pitchFamily="34" charset="0"/>
                <a:ea typeface="Geist" pitchFamily="34" charset="-122"/>
                <a:cs typeface="Geist" pitchFamily="34" charset="-120"/>
              </a:rPr>
              <a:t>Maschinen</a:t>
            </a:r>
            <a:endParaRPr lang="en-US" sz="1200" dirty="0"/>
          </a:p>
        </p:txBody>
      </p:sp>
      <p:sp>
        <p:nvSpPr>
          <p:cNvPr id="4" name="Text 1"/>
          <p:cNvSpPr/>
          <p:nvPr/>
        </p:nvSpPr>
        <p:spPr>
          <a:xfrm>
            <a:off x="7130653" y="635000"/>
            <a:ext cx="5909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Geist" pitchFamily="34" charset="0"/>
                <a:ea typeface="Geist" pitchFamily="34" charset="-122"/>
                <a:cs typeface="Geist" pitchFamily="34" charset="-120"/>
              </a:rPr>
              <a:t>Filialen</a:t>
            </a:r>
            <a:endParaRPr lang="en-US" sz="1200" dirty="0"/>
          </a:p>
        </p:txBody>
      </p:sp>
      <p:sp>
        <p:nvSpPr>
          <p:cNvPr id="5" name="Text 2"/>
          <p:cNvSpPr/>
          <p:nvPr/>
        </p:nvSpPr>
        <p:spPr>
          <a:xfrm>
            <a:off x="7927876" y="635000"/>
            <a:ext cx="13718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Geist" pitchFamily="34" charset="0"/>
                <a:ea typeface="Geist" pitchFamily="34" charset="-122"/>
                <a:cs typeface="Geist" pitchFamily="34" charset="-120"/>
              </a:rPr>
              <a:t>So funktioniert's</a:t>
            </a:r>
            <a:endParaRPr lang="en-US" sz="1200" dirty="0"/>
          </a:p>
        </p:txBody>
      </p:sp>
      <p:sp>
        <p:nvSpPr>
          <p:cNvPr id="6" name="Text 3"/>
          <p:cNvSpPr/>
          <p:nvPr/>
        </p:nvSpPr>
        <p:spPr>
          <a:xfrm>
            <a:off x="9375874" y="635000"/>
            <a:ext cx="64960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Geist" pitchFamily="34" charset="0"/>
                <a:ea typeface="Geist" pitchFamily="34" charset="-122"/>
                <a:cs typeface="Geist" pitchFamily="34" charset="-120"/>
              </a:rPr>
              <a:t>Kontakt</a:t>
            </a:r>
            <a:endParaRPr lang="en-US" sz="1200" dirty="0"/>
          </a:p>
        </p:txBody>
      </p:sp>
      <p:sp>
        <p:nvSpPr>
          <p:cNvPr id="7" name="Text 4"/>
          <p:cNvSpPr/>
          <p:nvPr/>
        </p:nvSpPr>
        <p:spPr>
          <a:xfrm>
            <a:off x="10222012" y="533400"/>
            <a:ext cx="1360388" cy="416520"/>
          </a:xfrm>
          <a:prstGeom prst="rect">
            <a:avLst/>
          </a:prstGeom>
          <a:solidFill>
            <a:srgbClr val="F26A1B"/>
          </a:solidFill>
          <a:ln/>
        </p:spPr>
        <p:txBody>
          <a:bodyPr wrap="none" lIns="0" tIns="0" rIns="0" bIns="0" rtlCol="0" anchor="ctr">
            <a:normAutofit/>
          </a:bodyPr>
          <a:lstStyle/>
          <a:p>
            <a:pPr marL="0" indent="0" algn="ctr">
              <a:lnSpc>
                <a:spcPts val="1680"/>
              </a:lnSpc>
              <a:buNone/>
            </a:pPr>
            <a:r>
              <a:rPr lang="en-US" sz="1200" b="1" dirty="0">
                <a:solidFill>
                  <a:srgbClr val="000000"/>
                </a:solidFill>
                <a:latin typeface="Geist" pitchFamily="34" charset="0"/>
                <a:ea typeface="Geist" pitchFamily="34" charset="-122"/>
                <a:cs typeface="Geist" pitchFamily="34" charset="-120"/>
              </a:rPr>
              <a:t>Jetzt mieten</a:t>
            </a:r>
            <a:endParaRPr lang="en-US" sz="1200" dirty="0"/>
          </a:p>
        </p:txBody>
      </p:sp>
      <p:sp>
        <p:nvSpPr>
          <p:cNvPr id="8" name="Shape 5"/>
          <p:cNvSpPr/>
          <p:nvPr/>
        </p:nvSpPr>
        <p:spPr>
          <a:xfrm>
            <a:off x="0" y="1320800"/>
            <a:ext cx="12192000" cy="12700"/>
          </a:xfrm>
          <a:prstGeom prst="rect">
            <a:avLst/>
          </a:prstGeom>
          <a:solidFill>
            <a:srgbClr val="262626"/>
          </a:solidFill>
          <a:ln/>
        </p:spPr>
        <p:txBody>
          <a:bodyPr/>
          <a:lstStyle/>
          <a:p>
            <a:endParaRPr lang="de-DE"/>
          </a:p>
        </p:txBody>
      </p:sp>
      <p:sp>
        <p:nvSpPr>
          <p:cNvPr id="9" name="Text 6"/>
          <p:cNvSpPr>
            <a:spLocks noGrp="1"/>
          </p:cNvSpPr>
          <p:nvPr>
            <p:ph type="title"/>
          </p:nvPr>
        </p:nvSpPr>
        <p:spPr>
          <a:xfrm>
            <a:off x="609600" y="1549400"/>
            <a:ext cx="11301984" cy="1346200"/>
          </a:xfrm>
          <a:prstGeom prst="rect">
            <a:avLst/>
          </a:prstGeom>
          <a:noFill/>
          <a:ln/>
        </p:spPr>
        <p:txBody>
          <a:bodyPr wrap="square" lIns="0" tIns="0" rIns="0" bIns="0" rtlCol="0" anchor="t">
            <a:normAutofit/>
          </a:bodyPr>
          <a:lstStyle/>
          <a:p>
            <a:pPr marL="0" indent="0" algn="l">
              <a:lnSpc>
                <a:spcPts val="5200"/>
              </a:lnSpc>
              <a:buNone/>
            </a:pPr>
            <a:r>
              <a:rPr lang="en-US" sz="5200" b="1" i="0" dirty="0">
                <a:solidFill>
                  <a:srgbClr val="FFFFFF"/>
                </a:solidFill>
                <a:latin typeface="Geist" pitchFamily="34" charset="0"/>
                <a:ea typeface="Geist" pitchFamily="34" charset="-122"/>
                <a:cs typeface="Geist" pitchFamily="34" charset="-120"/>
              </a:rPr>
              <a:t>LEIH AN RHEIN UND RUHR</a:t>
            </a:r>
            <a:endParaRPr lang="en-US" sz="5200" dirty="0"/>
          </a:p>
          <a:p>
            <a:pPr marL="0" indent="0" algn="l">
              <a:lnSpc>
                <a:spcPts val="5200"/>
              </a:lnSpc>
              <a:buNone/>
            </a:pPr>
            <a:r>
              <a:rPr lang="en-US" sz="5200" b="1" i="0" dirty="0">
                <a:solidFill>
                  <a:srgbClr val="F26A1B"/>
                </a:solidFill>
                <a:latin typeface="Geist" pitchFamily="34" charset="0"/>
                <a:ea typeface="Geist" pitchFamily="34" charset="-122"/>
                <a:cs typeface="Geist" pitchFamily="34" charset="-120"/>
              </a:rPr>
              <a:t>RUND UM DIE UHR</a:t>
            </a:r>
            <a:endParaRPr lang="en-US" sz="5200" dirty="0"/>
          </a:p>
        </p:txBody>
      </p:sp>
      <p:sp>
        <p:nvSpPr>
          <p:cNvPr id="10" name="Text 7"/>
          <p:cNvSpPr/>
          <p:nvPr/>
        </p:nvSpPr>
        <p:spPr>
          <a:xfrm>
            <a:off x="609600" y="2984500"/>
            <a:ext cx="719455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9D9D9"/>
                </a:solidFill>
                <a:latin typeface="Geist" pitchFamily="34" charset="0"/>
                <a:ea typeface="Geist" pitchFamily="34" charset="-122"/>
                <a:cs typeface="Geist" pitchFamily="34" charset="-120"/>
              </a:rPr>
              <a:t>Vom Bagger bis zur Motorsäge: Bei Kettenhof NRW mieten Sie Maschinen online und geben sie in jeder Filiale wieder ab. </a:t>
            </a:r>
            <a:endParaRPr lang="en-US" sz="1400" dirty="0"/>
          </a:p>
        </p:txBody>
      </p:sp>
      <p:sp>
        <p:nvSpPr>
          <p:cNvPr id="11" name="Shape 8"/>
          <p:cNvSpPr/>
          <p:nvPr/>
        </p:nvSpPr>
        <p:spPr>
          <a:xfrm>
            <a:off x="609600" y="3886200"/>
            <a:ext cx="10972800" cy="721320"/>
          </a:xfrm>
          <a:prstGeom prst="rect">
            <a:avLst/>
          </a:prstGeom>
          <a:solidFill>
            <a:srgbClr val="1F5F6B"/>
          </a:solidFill>
          <a:ln/>
        </p:spPr>
        <p:txBody>
          <a:bodyPr/>
          <a:lstStyle/>
          <a:p>
            <a:endParaRPr lang="de-DE"/>
          </a:p>
        </p:txBody>
      </p:sp>
      <p:sp>
        <p:nvSpPr>
          <p:cNvPr id="12" name="Text 9"/>
          <p:cNvSpPr/>
          <p:nvPr/>
        </p:nvSpPr>
        <p:spPr>
          <a:xfrm>
            <a:off x="736600" y="4013200"/>
            <a:ext cx="2770783" cy="467320"/>
          </a:xfrm>
          <a:prstGeom prst="rect">
            <a:avLst/>
          </a:prstGeom>
          <a:solidFill>
            <a:srgbClr val="FFFFFF"/>
          </a:solidFill>
          <a:ln/>
        </p:spPr>
        <p:txBody>
          <a:bodyPr wrap="square" lIns="127000" tIns="127000" rIns="51497" bIns="101600" rtlCol="0" anchor="t">
            <a:normAutofit/>
          </a:bodyPr>
          <a:lstStyle/>
          <a:p>
            <a:pPr marL="0" indent="0" algn="l">
              <a:lnSpc>
                <a:spcPts val="1680"/>
              </a:lnSpc>
              <a:buNone/>
            </a:pPr>
            <a:r>
              <a:rPr lang="en-US" sz="1200" dirty="0">
                <a:solidFill>
                  <a:srgbClr val="5A6168"/>
                </a:solidFill>
                <a:latin typeface="Geist" pitchFamily="34" charset="0"/>
                <a:ea typeface="Geist" pitchFamily="34" charset="-122"/>
                <a:cs typeface="Geist" pitchFamily="34" charset="-120"/>
              </a:rPr>
              <a:t>Welche Maschine?</a:t>
            </a:r>
            <a:endParaRPr lang="en-US" sz="1200" dirty="0"/>
          </a:p>
        </p:txBody>
      </p:sp>
      <p:sp>
        <p:nvSpPr>
          <p:cNvPr id="13" name="Text 10"/>
          <p:cNvSpPr/>
          <p:nvPr/>
        </p:nvSpPr>
        <p:spPr>
          <a:xfrm>
            <a:off x="3634383" y="4013200"/>
            <a:ext cx="2770882" cy="467320"/>
          </a:xfrm>
          <a:prstGeom prst="rect">
            <a:avLst/>
          </a:prstGeom>
          <a:solidFill>
            <a:srgbClr val="FFFFFF"/>
          </a:solidFill>
          <a:ln/>
        </p:spPr>
        <p:txBody>
          <a:bodyPr wrap="square" lIns="127000" tIns="127000" rIns="51494" bIns="101600" rtlCol="0" anchor="t">
            <a:normAutofit/>
          </a:bodyPr>
          <a:lstStyle/>
          <a:p>
            <a:pPr marL="0" indent="0" algn="l">
              <a:lnSpc>
                <a:spcPts val="1680"/>
              </a:lnSpc>
              <a:buNone/>
            </a:pPr>
            <a:r>
              <a:rPr lang="en-US" sz="1200" dirty="0">
                <a:solidFill>
                  <a:srgbClr val="5A6168"/>
                </a:solidFill>
                <a:latin typeface="Geist" pitchFamily="34" charset="0"/>
                <a:ea typeface="Geist" pitchFamily="34" charset="-122"/>
                <a:cs typeface="Geist" pitchFamily="34" charset="-120"/>
              </a:rPr>
              <a:t>Filiale in NRW</a:t>
            </a:r>
            <a:endParaRPr lang="en-US" sz="1200" dirty="0"/>
          </a:p>
        </p:txBody>
      </p:sp>
      <p:sp>
        <p:nvSpPr>
          <p:cNvPr id="14" name="Text 11"/>
          <p:cNvSpPr/>
          <p:nvPr/>
        </p:nvSpPr>
        <p:spPr>
          <a:xfrm>
            <a:off x="6532265" y="4013200"/>
            <a:ext cx="2770783" cy="467320"/>
          </a:xfrm>
          <a:prstGeom prst="rect">
            <a:avLst/>
          </a:prstGeom>
          <a:solidFill>
            <a:srgbClr val="FFFFFF"/>
          </a:solidFill>
          <a:ln/>
        </p:spPr>
        <p:txBody>
          <a:bodyPr wrap="square" lIns="127000" tIns="127000" rIns="51497" bIns="101600" rtlCol="0" anchor="t">
            <a:normAutofit/>
          </a:bodyPr>
          <a:lstStyle/>
          <a:p>
            <a:pPr marL="0" indent="0" algn="l">
              <a:lnSpc>
                <a:spcPts val="1680"/>
              </a:lnSpc>
              <a:buNone/>
            </a:pPr>
            <a:r>
              <a:rPr lang="en-US" sz="1200" dirty="0">
                <a:solidFill>
                  <a:srgbClr val="5A6168"/>
                </a:solidFill>
                <a:latin typeface="Geist" pitchFamily="34" charset="0"/>
                <a:ea typeface="Geist" pitchFamily="34" charset="-122"/>
                <a:cs typeface="Geist" pitchFamily="34" charset="-120"/>
              </a:rPr>
              <a:t>Zeitraum</a:t>
            </a:r>
            <a:endParaRPr lang="en-US" sz="1200" dirty="0"/>
          </a:p>
        </p:txBody>
      </p:sp>
      <p:sp>
        <p:nvSpPr>
          <p:cNvPr id="15" name="Text 12"/>
          <p:cNvSpPr/>
          <p:nvPr/>
        </p:nvSpPr>
        <p:spPr>
          <a:xfrm>
            <a:off x="9430048" y="4013200"/>
            <a:ext cx="2025352" cy="467320"/>
          </a:xfrm>
          <a:prstGeom prst="rect">
            <a:avLst/>
          </a:prstGeom>
          <a:solidFill>
            <a:srgbClr val="F26A1B"/>
          </a:solidFill>
          <a:ln/>
        </p:spPr>
        <p:txBody>
          <a:bodyPr wrap="none" lIns="0" tIns="0" rIns="0" bIns="0" rtlCol="0" anchor="ctr">
            <a:normAutofit/>
          </a:bodyPr>
          <a:lstStyle/>
          <a:p>
            <a:pPr marL="0" indent="0" algn="ctr">
              <a:lnSpc>
                <a:spcPts val="1680"/>
              </a:lnSpc>
              <a:buNone/>
            </a:pPr>
            <a:r>
              <a:rPr lang="en-US" sz="1200" b="1" dirty="0">
                <a:solidFill>
                  <a:srgbClr val="000000"/>
                </a:solidFill>
                <a:latin typeface="Geist" pitchFamily="34" charset="0"/>
                <a:ea typeface="Geist" pitchFamily="34" charset="-122"/>
                <a:cs typeface="Geist" pitchFamily="34" charset="-120"/>
              </a:rPr>
              <a:t>Verfügbarkeit prüfen</a:t>
            </a:r>
            <a:endParaRPr lang="en-US" sz="1200" dirty="0"/>
          </a:p>
        </p:txBody>
      </p:sp>
      <p:sp>
        <p:nvSpPr>
          <p:cNvPr id="16" name="Text 13"/>
          <p:cNvSpPr/>
          <p:nvPr/>
        </p:nvSpPr>
        <p:spPr>
          <a:xfrm>
            <a:off x="609600" y="4775200"/>
            <a:ext cx="11301984" cy="3326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FFFFFF"/>
                </a:solidFill>
                <a:latin typeface="Geist" pitchFamily="34" charset="0"/>
                <a:ea typeface="Geist" pitchFamily="34" charset="-122"/>
                <a:cs typeface="Geist" pitchFamily="34" charset="-120"/>
              </a:rPr>
              <a:t>BELIEBTE MASCHINEN</a:t>
            </a:r>
            <a:endParaRPr lang="en-US" sz="2200" dirty="0"/>
          </a:p>
        </p:txBody>
      </p:sp>
      <p:sp>
        <p:nvSpPr>
          <p:cNvPr id="17" name="Shape 14"/>
          <p:cNvSpPr/>
          <p:nvPr/>
        </p:nvSpPr>
        <p:spPr>
          <a:xfrm>
            <a:off x="609600" y="5245100"/>
            <a:ext cx="2628900" cy="1208881"/>
          </a:xfrm>
          <a:prstGeom prst="rect">
            <a:avLst/>
          </a:prstGeom>
          <a:solidFill>
            <a:srgbClr val="1F5F6B"/>
          </a:solidFill>
          <a:ln/>
        </p:spPr>
        <p:txBody>
          <a:bodyPr/>
          <a:lstStyle/>
          <a:p>
            <a:endParaRPr lang="de-DE"/>
          </a:p>
        </p:txBody>
      </p:sp>
      <p:sp>
        <p:nvSpPr>
          <p:cNvPr id="18" name="Text 15"/>
          <p:cNvSpPr/>
          <p:nvPr/>
        </p:nvSpPr>
        <p:spPr>
          <a:xfrm>
            <a:off x="762000" y="5397500"/>
            <a:ext cx="239382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Geist" pitchFamily="34" charset="0"/>
                <a:ea typeface="Geist" pitchFamily="34" charset="-122"/>
                <a:cs typeface="Geist" pitchFamily="34" charset="-120"/>
              </a:rPr>
              <a:t>Minibagger 1,8 t</a:t>
            </a:r>
            <a:endParaRPr lang="en-US" sz="1300" dirty="0"/>
          </a:p>
        </p:txBody>
      </p:sp>
      <p:sp>
        <p:nvSpPr>
          <p:cNvPr id="19" name="Text 16"/>
          <p:cNvSpPr/>
          <p:nvPr/>
        </p:nvSpPr>
        <p:spPr>
          <a:xfrm>
            <a:off x="762000" y="5679380"/>
            <a:ext cx="239382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6A1B"/>
                </a:solidFill>
                <a:latin typeface="Geist" pitchFamily="34" charset="0"/>
                <a:ea typeface="Geist" pitchFamily="34" charset="-122"/>
                <a:cs typeface="Geist" pitchFamily="34" charset="-120"/>
              </a:rPr>
              <a:t>ab 89 € pro Tag</a:t>
            </a:r>
            <a:endParaRPr lang="en-US" sz="1300" dirty="0"/>
          </a:p>
        </p:txBody>
      </p:sp>
      <p:sp>
        <p:nvSpPr>
          <p:cNvPr id="20" name="Text 17"/>
          <p:cNvSpPr/>
          <p:nvPr/>
        </p:nvSpPr>
        <p:spPr>
          <a:xfrm>
            <a:off x="768350" y="5967611"/>
            <a:ext cx="749300" cy="327620"/>
          </a:xfrm>
          <a:prstGeom prst="rect">
            <a:avLst/>
          </a:prstGeom>
          <a:noFill/>
          <a:ln w="12700">
            <a:solidFill>
              <a:srgbClr val="FFFFFF"/>
            </a:solidFill>
            <a:prstDash val="solid"/>
          </a:ln>
        </p:spPr>
        <p:txBody>
          <a:bodyPr wrap="none" lIns="0" tIns="0" rIns="0" bIns="0" rtlCol="0" anchor="ctr">
            <a:normAutofit/>
          </a:bodyPr>
          <a:lstStyle/>
          <a:p>
            <a:pPr marL="0" indent="0" algn="ctr">
              <a:lnSpc>
                <a:spcPts val="1680"/>
              </a:lnSpc>
              <a:buNone/>
            </a:pPr>
            <a:r>
              <a:rPr lang="en-US" sz="1200" b="1" dirty="0">
                <a:solidFill>
                  <a:srgbClr val="FFFFFF"/>
                </a:solidFill>
                <a:latin typeface="Geist" pitchFamily="34" charset="0"/>
                <a:ea typeface="Geist" pitchFamily="34" charset="-122"/>
                <a:cs typeface="Geist" pitchFamily="34" charset="-120"/>
              </a:rPr>
              <a:t>Details</a:t>
            </a:r>
            <a:endParaRPr lang="en-US" sz="1200" dirty="0"/>
          </a:p>
        </p:txBody>
      </p:sp>
      <p:sp>
        <p:nvSpPr>
          <p:cNvPr id="21" name="Shape 18"/>
          <p:cNvSpPr/>
          <p:nvPr/>
        </p:nvSpPr>
        <p:spPr>
          <a:xfrm>
            <a:off x="3390900" y="5245100"/>
            <a:ext cx="2628900" cy="1208881"/>
          </a:xfrm>
          <a:prstGeom prst="rect">
            <a:avLst/>
          </a:prstGeom>
          <a:solidFill>
            <a:srgbClr val="1F5F6B"/>
          </a:solidFill>
          <a:ln/>
        </p:spPr>
        <p:txBody>
          <a:bodyPr/>
          <a:lstStyle/>
          <a:p>
            <a:endParaRPr lang="de-DE"/>
          </a:p>
        </p:txBody>
      </p:sp>
      <p:sp>
        <p:nvSpPr>
          <p:cNvPr id="22" name="Text 19"/>
          <p:cNvSpPr/>
          <p:nvPr/>
        </p:nvSpPr>
        <p:spPr>
          <a:xfrm>
            <a:off x="3543300" y="5397500"/>
            <a:ext cx="239382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Geist" pitchFamily="34" charset="0"/>
                <a:ea typeface="Geist" pitchFamily="34" charset="-122"/>
                <a:cs typeface="Geist" pitchFamily="34" charset="-120"/>
              </a:rPr>
              <a:t>Rüttelplatte 90 kg</a:t>
            </a:r>
            <a:endParaRPr lang="en-US" sz="1300" dirty="0"/>
          </a:p>
        </p:txBody>
      </p:sp>
      <p:sp>
        <p:nvSpPr>
          <p:cNvPr id="23" name="Text 20"/>
          <p:cNvSpPr/>
          <p:nvPr/>
        </p:nvSpPr>
        <p:spPr>
          <a:xfrm>
            <a:off x="3543300" y="5679380"/>
            <a:ext cx="239382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6A1B"/>
                </a:solidFill>
                <a:latin typeface="Geist" pitchFamily="34" charset="0"/>
                <a:ea typeface="Geist" pitchFamily="34" charset="-122"/>
                <a:cs typeface="Geist" pitchFamily="34" charset="-120"/>
              </a:rPr>
              <a:t>ab 39 € pro Tag</a:t>
            </a:r>
            <a:endParaRPr lang="en-US" sz="1300" dirty="0"/>
          </a:p>
        </p:txBody>
      </p:sp>
      <p:sp>
        <p:nvSpPr>
          <p:cNvPr id="24" name="Text 21"/>
          <p:cNvSpPr/>
          <p:nvPr/>
        </p:nvSpPr>
        <p:spPr>
          <a:xfrm>
            <a:off x="3549650" y="5967611"/>
            <a:ext cx="749300" cy="327620"/>
          </a:xfrm>
          <a:prstGeom prst="rect">
            <a:avLst/>
          </a:prstGeom>
          <a:noFill/>
          <a:ln w="12700">
            <a:solidFill>
              <a:srgbClr val="FFFFFF"/>
            </a:solidFill>
            <a:prstDash val="solid"/>
          </a:ln>
        </p:spPr>
        <p:txBody>
          <a:bodyPr wrap="none" lIns="0" tIns="0" rIns="0" bIns="0" rtlCol="0" anchor="ctr">
            <a:normAutofit/>
          </a:bodyPr>
          <a:lstStyle/>
          <a:p>
            <a:pPr marL="0" indent="0" algn="ctr">
              <a:lnSpc>
                <a:spcPts val="1680"/>
              </a:lnSpc>
              <a:buNone/>
            </a:pPr>
            <a:r>
              <a:rPr lang="en-US" sz="1200" b="1" dirty="0">
                <a:solidFill>
                  <a:srgbClr val="FFFFFF"/>
                </a:solidFill>
                <a:latin typeface="Geist" pitchFamily="34" charset="0"/>
                <a:ea typeface="Geist" pitchFamily="34" charset="-122"/>
                <a:cs typeface="Geist" pitchFamily="34" charset="-120"/>
              </a:rPr>
              <a:t>Details</a:t>
            </a:r>
            <a:endParaRPr lang="en-US" sz="1200" dirty="0"/>
          </a:p>
        </p:txBody>
      </p:sp>
      <p:sp>
        <p:nvSpPr>
          <p:cNvPr id="25" name="Shape 22"/>
          <p:cNvSpPr/>
          <p:nvPr/>
        </p:nvSpPr>
        <p:spPr>
          <a:xfrm>
            <a:off x="6172200" y="5245100"/>
            <a:ext cx="2628900" cy="1208881"/>
          </a:xfrm>
          <a:prstGeom prst="rect">
            <a:avLst/>
          </a:prstGeom>
          <a:solidFill>
            <a:srgbClr val="1F5F6B"/>
          </a:solidFill>
          <a:ln/>
        </p:spPr>
        <p:txBody>
          <a:bodyPr/>
          <a:lstStyle/>
          <a:p>
            <a:endParaRPr lang="de-DE"/>
          </a:p>
        </p:txBody>
      </p:sp>
      <p:sp>
        <p:nvSpPr>
          <p:cNvPr id="26" name="Text 23"/>
          <p:cNvSpPr/>
          <p:nvPr/>
        </p:nvSpPr>
        <p:spPr>
          <a:xfrm>
            <a:off x="6324600" y="5397500"/>
            <a:ext cx="239382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Geist" pitchFamily="34" charset="0"/>
                <a:ea typeface="Geist" pitchFamily="34" charset="-122"/>
                <a:cs typeface="Geist" pitchFamily="34" charset="-120"/>
              </a:rPr>
              <a:t>Motorsäge 50 cm</a:t>
            </a:r>
            <a:endParaRPr lang="en-US" sz="1300" dirty="0"/>
          </a:p>
        </p:txBody>
      </p:sp>
      <p:sp>
        <p:nvSpPr>
          <p:cNvPr id="27" name="Text 24"/>
          <p:cNvSpPr/>
          <p:nvPr/>
        </p:nvSpPr>
        <p:spPr>
          <a:xfrm>
            <a:off x="6324600" y="5679380"/>
            <a:ext cx="239382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6A1B"/>
                </a:solidFill>
                <a:latin typeface="Geist" pitchFamily="34" charset="0"/>
                <a:ea typeface="Geist" pitchFamily="34" charset="-122"/>
                <a:cs typeface="Geist" pitchFamily="34" charset="-120"/>
              </a:rPr>
              <a:t>ab 29 € pro Tag</a:t>
            </a:r>
            <a:endParaRPr lang="en-US" sz="1300" dirty="0"/>
          </a:p>
        </p:txBody>
      </p:sp>
      <p:sp>
        <p:nvSpPr>
          <p:cNvPr id="28" name="Text 25"/>
          <p:cNvSpPr/>
          <p:nvPr/>
        </p:nvSpPr>
        <p:spPr>
          <a:xfrm>
            <a:off x="6330950" y="5967611"/>
            <a:ext cx="749300" cy="327620"/>
          </a:xfrm>
          <a:prstGeom prst="rect">
            <a:avLst/>
          </a:prstGeom>
          <a:noFill/>
          <a:ln w="12700">
            <a:solidFill>
              <a:srgbClr val="FFFFFF"/>
            </a:solidFill>
            <a:prstDash val="solid"/>
          </a:ln>
        </p:spPr>
        <p:txBody>
          <a:bodyPr wrap="none" lIns="0" tIns="0" rIns="0" bIns="0" rtlCol="0" anchor="ctr">
            <a:normAutofit/>
          </a:bodyPr>
          <a:lstStyle/>
          <a:p>
            <a:pPr marL="0" indent="0" algn="ctr">
              <a:lnSpc>
                <a:spcPts val="1680"/>
              </a:lnSpc>
              <a:buNone/>
            </a:pPr>
            <a:r>
              <a:rPr lang="en-US" sz="1200" b="1" dirty="0">
                <a:solidFill>
                  <a:srgbClr val="FFFFFF"/>
                </a:solidFill>
                <a:latin typeface="Geist" pitchFamily="34" charset="0"/>
                <a:ea typeface="Geist" pitchFamily="34" charset="-122"/>
                <a:cs typeface="Geist" pitchFamily="34" charset="-120"/>
              </a:rPr>
              <a:t>Details</a:t>
            </a:r>
            <a:endParaRPr lang="en-US" sz="1200" dirty="0"/>
          </a:p>
        </p:txBody>
      </p:sp>
      <p:sp>
        <p:nvSpPr>
          <p:cNvPr id="29" name="Shape 26"/>
          <p:cNvSpPr/>
          <p:nvPr/>
        </p:nvSpPr>
        <p:spPr>
          <a:xfrm>
            <a:off x="8953500" y="5245100"/>
            <a:ext cx="2628900" cy="1208881"/>
          </a:xfrm>
          <a:prstGeom prst="rect">
            <a:avLst/>
          </a:prstGeom>
          <a:solidFill>
            <a:srgbClr val="1F5F6B"/>
          </a:solidFill>
          <a:ln/>
        </p:spPr>
        <p:txBody>
          <a:bodyPr/>
          <a:lstStyle/>
          <a:p>
            <a:endParaRPr lang="de-DE"/>
          </a:p>
        </p:txBody>
      </p:sp>
      <p:sp>
        <p:nvSpPr>
          <p:cNvPr id="30" name="Text 27"/>
          <p:cNvSpPr/>
          <p:nvPr/>
        </p:nvSpPr>
        <p:spPr>
          <a:xfrm>
            <a:off x="9105900" y="5397500"/>
            <a:ext cx="239382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Geist" pitchFamily="34" charset="0"/>
                <a:ea typeface="Geist" pitchFamily="34" charset="-122"/>
                <a:cs typeface="Geist" pitchFamily="34" charset="-120"/>
              </a:rPr>
              <a:t>Pkw-Anhänger 750 kg</a:t>
            </a:r>
            <a:endParaRPr lang="en-US" sz="1300" dirty="0"/>
          </a:p>
        </p:txBody>
      </p:sp>
      <p:sp>
        <p:nvSpPr>
          <p:cNvPr id="31" name="Text 28"/>
          <p:cNvSpPr/>
          <p:nvPr/>
        </p:nvSpPr>
        <p:spPr>
          <a:xfrm>
            <a:off x="9105900" y="5679380"/>
            <a:ext cx="2393823"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26A1B"/>
                </a:solidFill>
                <a:latin typeface="Geist" pitchFamily="34" charset="0"/>
                <a:ea typeface="Geist" pitchFamily="34" charset="-122"/>
                <a:cs typeface="Geist" pitchFamily="34" charset="-120"/>
              </a:rPr>
              <a:t>ab 25 € pro Tag</a:t>
            </a:r>
            <a:endParaRPr lang="en-US" sz="1300" dirty="0"/>
          </a:p>
        </p:txBody>
      </p:sp>
      <p:sp>
        <p:nvSpPr>
          <p:cNvPr id="32" name="Text 29"/>
          <p:cNvSpPr/>
          <p:nvPr/>
        </p:nvSpPr>
        <p:spPr>
          <a:xfrm>
            <a:off x="9112250" y="5967611"/>
            <a:ext cx="749300" cy="327620"/>
          </a:xfrm>
          <a:prstGeom prst="rect">
            <a:avLst/>
          </a:prstGeom>
          <a:noFill/>
          <a:ln w="12700">
            <a:solidFill>
              <a:srgbClr val="FFFFFF"/>
            </a:solidFill>
            <a:prstDash val="solid"/>
          </a:ln>
        </p:spPr>
        <p:txBody>
          <a:bodyPr wrap="none" lIns="0" tIns="0" rIns="0" bIns="0" rtlCol="0" anchor="ctr">
            <a:normAutofit/>
          </a:bodyPr>
          <a:lstStyle/>
          <a:p>
            <a:pPr marL="0" indent="0" algn="ctr">
              <a:lnSpc>
                <a:spcPts val="1680"/>
              </a:lnSpc>
              <a:buNone/>
            </a:pPr>
            <a:r>
              <a:rPr lang="en-US" sz="1200" b="1" dirty="0">
                <a:solidFill>
                  <a:srgbClr val="FFFFFF"/>
                </a:solidFill>
                <a:latin typeface="Geist" pitchFamily="34" charset="0"/>
                <a:ea typeface="Geist" pitchFamily="34" charset="-122"/>
                <a:cs typeface="Geist" pitchFamily="34" charset="-120"/>
              </a:rPr>
              <a:t>Details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5F6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928813"/>
            <a:ext cx="10883392" cy="3025775"/>
          </a:xfrm>
          <a:prstGeom prst="rect">
            <a:avLst/>
          </a:prstGeom>
          <a:noFill/>
          <a:ln/>
        </p:spPr>
        <p:txBody>
          <a:bodyPr wrap="square" lIns="0" tIns="0" rIns="0" bIns="0" rtlCol="0" anchor="t">
            <a:normAutofit/>
          </a:bodyPr>
          <a:lstStyle/>
          <a:p>
            <a:pPr marL="0" indent="0" algn="l">
              <a:lnSpc>
                <a:spcPts val="7875"/>
              </a:lnSpc>
              <a:buNone/>
            </a:pPr>
            <a:r>
              <a:rPr lang="en-US" sz="7500" b="1" i="0" dirty="0">
                <a:solidFill>
                  <a:srgbClr val="FFFFFF"/>
                </a:solidFill>
                <a:latin typeface="Geist" pitchFamily="34" charset="0"/>
                <a:ea typeface="Geist" pitchFamily="34" charset="-122"/>
                <a:cs typeface="Geist" pitchFamily="34" charset="-120"/>
              </a:rPr>
              <a:t>WIE BIN ICH</a:t>
            </a:r>
            <a:endParaRPr lang="en-US" sz="7500" dirty="0"/>
          </a:p>
          <a:p>
            <a:pPr marL="0" indent="0" algn="l">
              <a:lnSpc>
                <a:spcPts val="7875"/>
              </a:lnSpc>
              <a:buNone/>
            </a:pPr>
            <a:r>
              <a:rPr lang="en-US" sz="7500" b="1" i="0" dirty="0">
                <a:solidFill>
                  <a:srgbClr val="F26A1B"/>
                </a:solidFill>
                <a:latin typeface="Geist" pitchFamily="34" charset="0"/>
                <a:ea typeface="Geist" pitchFamily="34" charset="-122"/>
                <a:cs typeface="Geist" pitchFamily="34" charset="-120"/>
              </a:rPr>
              <a:t>DARAUF GEKOMMEN?</a:t>
            </a:r>
            <a:endParaRPr lang="en-US" sz="7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91440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VORGEHENSWEISE</a:t>
            </a:r>
            <a:endParaRPr lang="en-US" sz="3600" dirty="0"/>
          </a:p>
        </p:txBody>
      </p:sp>
      <p:sp>
        <p:nvSpPr>
          <p:cNvPr id="3" name="Shape 1"/>
          <p:cNvSpPr/>
          <p:nvPr/>
        </p:nvSpPr>
        <p:spPr>
          <a:xfrm>
            <a:off x="812800" y="3425329"/>
            <a:ext cx="3420467" cy="2619871"/>
          </a:xfrm>
          <a:prstGeom prst="rect">
            <a:avLst/>
          </a:prstGeom>
          <a:solidFill>
            <a:srgbClr val="1F5F6B"/>
          </a:solidFill>
          <a:ln/>
        </p:spPr>
        <p:txBody>
          <a:bodyPr/>
          <a:lstStyle/>
          <a:p>
            <a:endParaRPr lang="de-DE"/>
          </a:p>
        </p:txBody>
      </p:sp>
      <p:sp>
        <p:nvSpPr>
          <p:cNvPr id="4" name="Text 2"/>
          <p:cNvSpPr/>
          <p:nvPr/>
        </p:nvSpPr>
        <p:spPr>
          <a:xfrm>
            <a:off x="1117600" y="3730129"/>
            <a:ext cx="289519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26A1B"/>
                </a:solidFill>
                <a:latin typeface="Geist" pitchFamily="34" charset="0"/>
                <a:ea typeface="Geist" pitchFamily="34" charset="-122"/>
                <a:cs typeface="Geist" pitchFamily="34" charset="-120"/>
              </a:rPr>
              <a:t>1</a:t>
            </a:r>
            <a:endParaRPr lang="en-US" sz="4800" dirty="0"/>
          </a:p>
        </p:txBody>
      </p:sp>
      <p:sp>
        <p:nvSpPr>
          <p:cNvPr id="5" name="Text 3"/>
          <p:cNvSpPr/>
          <p:nvPr/>
        </p:nvSpPr>
        <p:spPr>
          <a:xfrm>
            <a:off x="1117600" y="4441329"/>
            <a:ext cx="28951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Geist" pitchFamily="34" charset="0"/>
                <a:ea typeface="Geist" pitchFamily="34" charset="-122"/>
                <a:cs typeface="Geist" pitchFamily="34" charset="-120"/>
              </a:rPr>
              <a:t>User Story #24</a:t>
            </a:r>
            <a:endParaRPr lang="en-US" sz="1200" dirty="0"/>
          </a:p>
        </p:txBody>
      </p:sp>
      <p:sp>
        <p:nvSpPr>
          <p:cNvPr id="6" name="Text 4"/>
          <p:cNvSpPr/>
          <p:nvPr/>
        </p:nvSpPr>
        <p:spPr>
          <a:xfrm>
            <a:off x="1117600" y="4756249"/>
            <a:ext cx="2895193"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FFFFF"/>
                </a:solidFill>
                <a:latin typeface="Geist" pitchFamily="34" charset="0"/>
                <a:ea typeface="Geist" pitchFamily="34" charset="-122"/>
                <a:cs typeface="Geist" pitchFamily="34" charset="-120"/>
              </a:rPr>
              <a:t>Marktanalyse</a:t>
            </a:r>
            <a:endParaRPr lang="en-US" sz="2200" dirty="0"/>
          </a:p>
        </p:txBody>
      </p:sp>
      <p:sp>
        <p:nvSpPr>
          <p:cNvPr id="7" name="Text 5"/>
          <p:cNvSpPr/>
          <p:nvPr/>
        </p:nvSpPr>
        <p:spPr>
          <a:xfrm>
            <a:off x="1117600" y="5179120"/>
            <a:ext cx="2895193"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3EAEC"/>
                </a:solidFill>
                <a:latin typeface="Geist" pitchFamily="34" charset="0"/>
                <a:ea typeface="Geist" pitchFamily="34" charset="-122"/>
                <a:cs typeface="Geist" pitchFamily="34" charset="-120"/>
              </a:rPr>
              <a:t>Wie sieht der Markt aus?</a:t>
            </a:r>
            <a:endParaRPr lang="en-US" sz="1400" dirty="0"/>
          </a:p>
        </p:txBody>
      </p:sp>
      <p:sp>
        <p:nvSpPr>
          <p:cNvPr id="8" name="Shape 6"/>
          <p:cNvSpPr/>
          <p:nvPr/>
        </p:nvSpPr>
        <p:spPr>
          <a:xfrm>
            <a:off x="4385667" y="3425329"/>
            <a:ext cx="3420566" cy="2619871"/>
          </a:xfrm>
          <a:prstGeom prst="rect">
            <a:avLst/>
          </a:prstGeom>
          <a:solidFill>
            <a:srgbClr val="1F5F6B"/>
          </a:solidFill>
          <a:ln/>
        </p:spPr>
        <p:txBody>
          <a:bodyPr/>
          <a:lstStyle/>
          <a:p>
            <a:endParaRPr lang="de-DE"/>
          </a:p>
        </p:txBody>
      </p:sp>
      <p:sp>
        <p:nvSpPr>
          <p:cNvPr id="9" name="Text 7"/>
          <p:cNvSpPr/>
          <p:nvPr/>
        </p:nvSpPr>
        <p:spPr>
          <a:xfrm>
            <a:off x="4690467" y="3730129"/>
            <a:ext cx="289529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26A1B"/>
                </a:solidFill>
                <a:latin typeface="Geist" pitchFamily="34" charset="0"/>
                <a:ea typeface="Geist" pitchFamily="34" charset="-122"/>
                <a:cs typeface="Geist" pitchFamily="34" charset="-120"/>
              </a:rPr>
              <a:t>2</a:t>
            </a:r>
            <a:endParaRPr lang="en-US" sz="4800" dirty="0"/>
          </a:p>
        </p:txBody>
      </p:sp>
      <p:sp>
        <p:nvSpPr>
          <p:cNvPr id="10" name="Text 8"/>
          <p:cNvSpPr/>
          <p:nvPr/>
        </p:nvSpPr>
        <p:spPr>
          <a:xfrm>
            <a:off x="4690467" y="4441329"/>
            <a:ext cx="28952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Geist" pitchFamily="34" charset="0"/>
                <a:ea typeface="Geist" pitchFamily="34" charset="-122"/>
                <a:cs typeface="Geist" pitchFamily="34" charset="-120"/>
              </a:rPr>
              <a:t>User Story #25</a:t>
            </a:r>
            <a:endParaRPr lang="en-US" sz="1200" dirty="0"/>
          </a:p>
        </p:txBody>
      </p:sp>
      <p:sp>
        <p:nvSpPr>
          <p:cNvPr id="11" name="Text 9"/>
          <p:cNvSpPr/>
          <p:nvPr/>
        </p:nvSpPr>
        <p:spPr>
          <a:xfrm>
            <a:off x="4690467" y="4756249"/>
            <a:ext cx="2895295"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FFFFF"/>
                </a:solidFill>
                <a:latin typeface="Geist" pitchFamily="34" charset="0"/>
                <a:ea typeface="Geist" pitchFamily="34" charset="-122"/>
                <a:cs typeface="Geist" pitchFamily="34" charset="-120"/>
              </a:rPr>
              <a:t>Ziele, Strategien und STP</a:t>
            </a:r>
            <a:endParaRPr lang="en-US" sz="2200" dirty="0"/>
          </a:p>
        </p:txBody>
      </p:sp>
      <p:sp>
        <p:nvSpPr>
          <p:cNvPr id="12" name="Text 10"/>
          <p:cNvSpPr/>
          <p:nvPr/>
        </p:nvSpPr>
        <p:spPr>
          <a:xfrm>
            <a:off x="4690467" y="5500390"/>
            <a:ext cx="289529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3EAEC"/>
                </a:solidFill>
                <a:latin typeface="Geist" pitchFamily="34" charset="0"/>
                <a:ea typeface="Geist" pitchFamily="34" charset="-122"/>
                <a:cs typeface="Geist" pitchFamily="34" charset="-120"/>
              </a:rPr>
              <a:t>Wen sprechen wir an?</a:t>
            </a:r>
            <a:endParaRPr lang="en-US" sz="1400" dirty="0"/>
          </a:p>
        </p:txBody>
      </p:sp>
      <p:sp>
        <p:nvSpPr>
          <p:cNvPr id="13" name="Shape 11"/>
          <p:cNvSpPr/>
          <p:nvPr/>
        </p:nvSpPr>
        <p:spPr>
          <a:xfrm>
            <a:off x="7958634" y="3425329"/>
            <a:ext cx="3420566" cy="2619871"/>
          </a:xfrm>
          <a:prstGeom prst="rect">
            <a:avLst/>
          </a:prstGeom>
          <a:solidFill>
            <a:srgbClr val="1F5F6B"/>
          </a:solidFill>
          <a:ln/>
        </p:spPr>
        <p:txBody>
          <a:bodyPr/>
          <a:lstStyle/>
          <a:p>
            <a:endParaRPr lang="de-DE"/>
          </a:p>
        </p:txBody>
      </p:sp>
      <p:sp>
        <p:nvSpPr>
          <p:cNvPr id="14" name="Text 12"/>
          <p:cNvSpPr/>
          <p:nvPr/>
        </p:nvSpPr>
        <p:spPr>
          <a:xfrm>
            <a:off x="8263434" y="3730129"/>
            <a:ext cx="289529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26A1B"/>
                </a:solidFill>
                <a:latin typeface="Geist" pitchFamily="34" charset="0"/>
                <a:ea typeface="Geist" pitchFamily="34" charset="-122"/>
                <a:cs typeface="Geist" pitchFamily="34" charset="-120"/>
              </a:rPr>
              <a:t>3</a:t>
            </a:r>
            <a:endParaRPr lang="en-US" sz="4800" dirty="0"/>
          </a:p>
        </p:txBody>
      </p:sp>
      <p:sp>
        <p:nvSpPr>
          <p:cNvPr id="15" name="Text 13"/>
          <p:cNvSpPr/>
          <p:nvPr/>
        </p:nvSpPr>
        <p:spPr>
          <a:xfrm>
            <a:off x="8263434" y="4441329"/>
            <a:ext cx="28952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Geist" pitchFamily="34" charset="0"/>
                <a:ea typeface="Geist" pitchFamily="34" charset="-122"/>
                <a:cs typeface="Geist" pitchFamily="34" charset="-120"/>
              </a:rPr>
              <a:t>User Story #39</a:t>
            </a:r>
            <a:endParaRPr lang="en-US" sz="1200" dirty="0"/>
          </a:p>
        </p:txBody>
      </p:sp>
      <p:sp>
        <p:nvSpPr>
          <p:cNvPr id="16" name="Text 14"/>
          <p:cNvSpPr/>
          <p:nvPr/>
        </p:nvSpPr>
        <p:spPr>
          <a:xfrm>
            <a:off x="8263434" y="4756249"/>
            <a:ext cx="2895295"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FFFFF"/>
                </a:solidFill>
                <a:latin typeface="Geist" pitchFamily="34" charset="0"/>
                <a:ea typeface="Geist" pitchFamily="34" charset="-122"/>
                <a:cs typeface="Geist" pitchFamily="34" charset="-120"/>
              </a:rPr>
              <a:t>Corporate Design</a:t>
            </a:r>
            <a:endParaRPr lang="en-US" sz="2200" dirty="0"/>
          </a:p>
        </p:txBody>
      </p:sp>
      <p:sp>
        <p:nvSpPr>
          <p:cNvPr id="17" name="Text 15"/>
          <p:cNvSpPr/>
          <p:nvPr/>
        </p:nvSpPr>
        <p:spPr>
          <a:xfrm>
            <a:off x="8263434" y="5179120"/>
            <a:ext cx="289529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E3EAEC"/>
                </a:solidFill>
                <a:latin typeface="Geist" pitchFamily="34" charset="0"/>
                <a:ea typeface="Geist" pitchFamily="34" charset="-122"/>
                <a:cs typeface="Geist" pitchFamily="34" charset="-120"/>
              </a:rPr>
              <a:t>Wie heben wir uns ab?</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WIE SIEHT DER MARKT AUS?</a:t>
            </a:r>
            <a:endParaRPr lang="en-US" sz="3600" dirty="0"/>
          </a:p>
        </p:txBody>
      </p:sp>
      <p:sp>
        <p:nvSpPr>
          <p:cNvPr id="3" name="Text 1"/>
          <p:cNvSpPr/>
          <p:nvPr/>
        </p:nvSpPr>
        <p:spPr>
          <a:xfrm>
            <a:off x="812800" y="13944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A1B"/>
                </a:solidFill>
                <a:latin typeface="Geist" pitchFamily="34" charset="0"/>
                <a:ea typeface="Geist" pitchFamily="34" charset="-122"/>
                <a:cs typeface="Geist" pitchFamily="34" charset="-120"/>
              </a:rPr>
              <a:t>SCHRITT 1 | #24 MARKTANALYSE</a:t>
            </a:r>
            <a:endParaRPr lang="en-US" sz="1200" dirty="0"/>
          </a:p>
        </p:txBody>
      </p:sp>
      <p:sp>
        <p:nvSpPr>
          <p:cNvPr id="4" name="Text 2"/>
          <p:cNvSpPr/>
          <p:nvPr/>
        </p:nvSpPr>
        <p:spPr>
          <a:xfrm>
            <a:off x="819150" y="2179340"/>
            <a:ext cx="873820" cy="378420"/>
          </a:xfrm>
          <a:prstGeom prst="rect">
            <a:avLst/>
          </a:prstGeom>
          <a:noFill/>
          <a:ln w="12700">
            <a:solidFill>
              <a:srgbClr val="1F5F6B"/>
            </a:solidFill>
            <a:prstDash val="solid"/>
          </a:ln>
        </p:spPr>
        <p:txBody>
          <a:bodyPr wrap="none" lIns="0" tIns="0" rIns="0" bIns="0" rtlCol="0" anchor="ctr">
            <a:normAutofit/>
          </a:bodyPr>
          <a:lstStyle/>
          <a:p>
            <a:pPr marL="0" indent="0" algn="ctr">
              <a:lnSpc>
                <a:spcPts val="1680"/>
              </a:lnSpc>
              <a:buNone/>
            </a:pPr>
            <a:r>
              <a:rPr lang="en-US" sz="1200" b="1" dirty="0">
                <a:solidFill>
                  <a:srgbClr val="FFFFFF"/>
                </a:solidFill>
                <a:latin typeface="Geist" pitchFamily="34" charset="0"/>
                <a:ea typeface="Geist" pitchFamily="34" charset="-122"/>
                <a:cs typeface="Geist" pitchFamily="34" charset="-120"/>
              </a:rPr>
              <a:t>PESTEL</a:t>
            </a:r>
            <a:endParaRPr lang="en-US" sz="1200" dirty="0"/>
          </a:p>
        </p:txBody>
      </p:sp>
      <p:sp>
        <p:nvSpPr>
          <p:cNvPr id="5" name="Text 3"/>
          <p:cNvSpPr/>
          <p:nvPr/>
        </p:nvSpPr>
        <p:spPr>
          <a:xfrm>
            <a:off x="1807270" y="2179340"/>
            <a:ext cx="1756668" cy="378420"/>
          </a:xfrm>
          <a:prstGeom prst="rect">
            <a:avLst/>
          </a:prstGeom>
          <a:noFill/>
          <a:ln w="12700">
            <a:solidFill>
              <a:srgbClr val="1F5F6B"/>
            </a:solidFill>
            <a:prstDash val="solid"/>
          </a:ln>
        </p:spPr>
        <p:txBody>
          <a:bodyPr wrap="none" lIns="0" tIns="0" rIns="0" bIns="0" rtlCol="0" anchor="ctr">
            <a:normAutofit/>
          </a:bodyPr>
          <a:lstStyle/>
          <a:p>
            <a:pPr marL="0" indent="0" algn="ctr">
              <a:lnSpc>
                <a:spcPts val="1680"/>
              </a:lnSpc>
              <a:buNone/>
            </a:pPr>
            <a:r>
              <a:rPr lang="en-US" sz="1200" b="1" dirty="0">
                <a:solidFill>
                  <a:srgbClr val="FFFFFF"/>
                </a:solidFill>
                <a:latin typeface="Geist" pitchFamily="34" charset="0"/>
                <a:ea typeface="Geist" pitchFamily="34" charset="-122"/>
                <a:cs typeface="Geist" pitchFamily="34" charset="-120"/>
              </a:rPr>
              <a:t>Porter's Five Forces</a:t>
            </a:r>
            <a:endParaRPr lang="en-US" sz="1200" dirty="0"/>
          </a:p>
        </p:txBody>
      </p:sp>
      <p:sp>
        <p:nvSpPr>
          <p:cNvPr id="6" name="Text 4"/>
          <p:cNvSpPr/>
          <p:nvPr/>
        </p:nvSpPr>
        <p:spPr>
          <a:xfrm>
            <a:off x="3678238" y="2179340"/>
            <a:ext cx="2507754" cy="378420"/>
          </a:xfrm>
          <a:prstGeom prst="rect">
            <a:avLst/>
          </a:prstGeom>
          <a:noFill/>
          <a:ln w="12700">
            <a:solidFill>
              <a:srgbClr val="1F5F6B"/>
            </a:solidFill>
            <a:prstDash val="solid"/>
          </a:ln>
        </p:spPr>
        <p:txBody>
          <a:bodyPr wrap="none" lIns="0" tIns="0" rIns="0" bIns="0" rtlCol="0" anchor="ctr">
            <a:normAutofit/>
          </a:bodyPr>
          <a:lstStyle/>
          <a:p>
            <a:pPr marL="0" indent="0" algn="ctr">
              <a:lnSpc>
                <a:spcPts val="1680"/>
              </a:lnSpc>
              <a:buNone/>
            </a:pPr>
            <a:r>
              <a:rPr lang="en-US" sz="1200" b="1" dirty="0">
                <a:solidFill>
                  <a:srgbClr val="FFFFFF"/>
                </a:solidFill>
                <a:latin typeface="Geist" pitchFamily="34" charset="0"/>
                <a:ea typeface="Geist" pitchFamily="34" charset="-122"/>
                <a:cs typeface="Geist" pitchFamily="34" charset="-120"/>
              </a:rPr>
              <a:t>Benchmark der Wettbewerber</a:t>
            </a:r>
            <a:endParaRPr lang="en-US" sz="1200" dirty="0"/>
          </a:p>
        </p:txBody>
      </p:sp>
      <p:sp>
        <p:nvSpPr>
          <p:cNvPr id="7" name="Text 5"/>
          <p:cNvSpPr/>
          <p:nvPr/>
        </p:nvSpPr>
        <p:spPr>
          <a:xfrm>
            <a:off x="6293941" y="2185690"/>
            <a:ext cx="2146399" cy="365720"/>
          </a:xfrm>
          <a:prstGeom prst="rect">
            <a:avLst/>
          </a:prstGeom>
          <a:solidFill>
            <a:srgbClr val="F26A1B"/>
          </a:solidFill>
          <a:ln/>
        </p:spPr>
        <p:txBody>
          <a:bodyPr wrap="none" lIns="0" tIns="0" rIns="0" bIns="0" rtlCol="0" anchor="ctr">
            <a:normAutofit/>
          </a:bodyPr>
          <a:lstStyle/>
          <a:p>
            <a:pPr marL="0" indent="0" algn="ctr">
              <a:lnSpc>
                <a:spcPts val="1680"/>
              </a:lnSpc>
              <a:buNone/>
            </a:pPr>
            <a:r>
              <a:rPr lang="en-US" sz="1200" b="1" dirty="0">
                <a:solidFill>
                  <a:srgbClr val="000000"/>
                </a:solidFill>
                <a:latin typeface="Geist" pitchFamily="34" charset="0"/>
                <a:ea typeface="Geist" pitchFamily="34" charset="-122"/>
                <a:cs typeface="Geist" pitchFamily="34" charset="-120"/>
              </a:rPr>
              <a:t>= SWOT: alles zusammen</a:t>
            </a:r>
            <a:endParaRPr lang="en-US" sz="1200" dirty="0"/>
          </a:p>
        </p:txBody>
      </p:sp>
      <p:sp>
        <p:nvSpPr>
          <p:cNvPr id="8" name="Shape 6"/>
          <p:cNvSpPr/>
          <p:nvPr/>
        </p:nvSpPr>
        <p:spPr>
          <a:xfrm>
            <a:off x="812800" y="3130550"/>
            <a:ext cx="5219700" cy="1397000"/>
          </a:xfrm>
          <a:prstGeom prst="rect">
            <a:avLst/>
          </a:prstGeom>
          <a:solidFill>
            <a:srgbClr val="1F5F6B"/>
          </a:solidFill>
          <a:ln/>
        </p:spPr>
        <p:txBody>
          <a:bodyPr/>
          <a:lstStyle/>
          <a:p>
            <a:endParaRPr lang="de-DE"/>
          </a:p>
        </p:txBody>
      </p:sp>
      <p:sp>
        <p:nvSpPr>
          <p:cNvPr id="9" name="Text 7"/>
          <p:cNvSpPr/>
          <p:nvPr/>
        </p:nvSpPr>
        <p:spPr>
          <a:xfrm>
            <a:off x="1066800" y="3333750"/>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Stärken</a:t>
            </a:r>
            <a:endParaRPr lang="en-US" sz="1600" dirty="0"/>
          </a:p>
        </p:txBody>
      </p:sp>
      <p:sp>
        <p:nvSpPr>
          <p:cNvPr id="10" name="Text 8"/>
          <p:cNvSpPr/>
          <p:nvPr/>
        </p:nvSpPr>
        <p:spPr>
          <a:xfrm>
            <a:off x="1158494" y="3653730"/>
            <a:ext cx="4753737" cy="693936"/>
          </a:xfrm>
          <a:prstGeom prst="rect">
            <a:avLst/>
          </a:prstGeom>
          <a:noFill/>
          <a:ln/>
        </p:spPr>
        <p:txBody>
          <a:bodyPr wrap="square" lIns="0" tIns="0" rIns="0" bIns="0" rtlCol="0" anchor="t">
            <a:normAutofit/>
          </a:bodyPr>
          <a:lstStyle/>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Filialnetz in ganz NRW, Rückgabe in jeder Filiale</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Sortiment vom Bagger bis zur Motorsäge</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Einkaufsmacht durch Größe</a:t>
            </a:r>
            <a:endParaRPr lang="en-US" sz="1300" dirty="0"/>
          </a:p>
        </p:txBody>
      </p:sp>
      <p:sp>
        <p:nvSpPr>
          <p:cNvPr id="11" name="Shape 9"/>
          <p:cNvSpPr/>
          <p:nvPr/>
        </p:nvSpPr>
        <p:spPr>
          <a:xfrm>
            <a:off x="6159500" y="3130550"/>
            <a:ext cx="5219700" cy="1397000"/>
          </a:xfrm>
          <a:prstGeom prst="rect">
            <a:avLst/>
          </a:prstGeom>
          <a:solidFill>
            <a:srgbClr val="1F5F6B"/>
          </a:solidFill>
          <a:ln/>
        </p:spPr>
        <p:txBody>
          <a:bodyPr/>
          <a:lstStyle/>
          <a:p>
            <a:endParaRPr lang="de-DE"/>
          </a:p>
        </p:txBody>
      </p:sp>
      <p:sp>
        <p:nvSpPr>
          <p:cNvPr id="12" name="Text 10"/>
          <p:cNvSpPr/>
          <p:nvPr/>
        </p:nvSpPr>
        <p:spPr>
          <a:xfrm>
            <a:off x="6413500" y="3333750"/>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Schwächen</a:t>
            </a:r>
            <a:endParaRPr lang="en-US" sz="1600" dirty="0"/>
          </a:p>
        </p:txBody>
      </p:sp>
      <p:sp>
        <p:nvSpPr>
          <p:cNvPr id="13" name="Text 11"/>
          <p:cNvSpPr/>
          <p:nvPr/>
        </p:nvSpPr>
        <p:spPr>
          <a:xfrm>
            <a:off x="6505194" y="3653730"/>
            <a:ext cx="4753737" cy="693936"/>
          </a:xfrm>
          <a:prstGeom prst="rect">
            <a:avLst/>
          </a:prstGeom>
          <a:noFill/>
          <a:ln/>
        </p:spPr>
        <p:txBody>
          <a:bodyPr wrap="square" lIns="0" tIns="0" rIns="0" bIns="0" rtlCol="0" anchor="t">
            <a:normAutofit/>
          </a:bodyPr>
          <a:lstStyle/>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Abrechnung und Verwaltung in Excel</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Keine Website mit Buchung und Shop</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Kein Marketingkonzept</a:t>
            </a:r>
            <a:endParaRPr lang="en-US" sz="1300" dirty="0"/>
          </a:p>
        </p:txBody>
      </p:sp>
      <p:sp>
        <p:nvSpPr>
          <p:cNvPr id="14" name="Shape 12"/>
          <p:cNvSpPr/>
          <p:nvPr/>
        </p:nvSpPr>
        <p:spPr>
          <a:xfrm>
            <a:off x="812800" y="4654550"/>
            <a:ext cx="5219700" cy="1397000"/>
          </a:xfrm>
          <a:prstGeom prst="rect">
            <a:avLst/>
          </a:prstGeom>
          <a:solidFill>
            <a:srgbClr val="1F5F6B"/>
          </a:solidFill>
          <a:ln/>
        </p:spPr>
        <p:txBody>
          <a:bodyPr/>
          <a:lstStyle/>
          <a:p>
            <a:endParaRPr lang="de-DE"/>
          </a:p>
        </p:txBody>
      </p:sp>
      <p:sp>
        <p:nvSpPr>
          <p:cNvPr id="15" name="Text 13"/>
          <p:cNvSpPr/>
          <p:nvPr/>
        </p:nvSpPr>
        <p:spPr>
          <a:xfrm>
            <a:off x="1066800" y="4857750"/>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Chancen</a:t>
            </a:r>
            <a:endParaRPr lang="en-US" sz="1600" dirty="0"/>
          </a:p>
        </p:txBody>
      </p:sp>
      <p:sp>
        <p:nvSpPr>
          <p:cNvPr id="16" name="Text 14"/>
          <p:cNvSpPr/>
          <p:nvPr/>
        </p:nvSpPr>
        <p:spPr>
          <a:xfrm>
            <a:off x="1158494" y="5177730"/>
            <a:ext cx="4753737" cy="693936"/>
          </a:xfrm>
          <a:prstGeom prst="rect">
            <a:avLst/>
          </a:prstGeom>
          <a:noFill/>
          <a:ln/>
        </p:spPr>
        <p:txBody>
          <a:bodyPr wrap="square" lIns="0" tIns="0" rIns="0" bIns="0" rtlCol="0" anchor="t">
            <a:normAutofit/>
          </a:bodyPr>
          <a:lstStyle/>
          <a:p>
            <a:pPr marL="162306" indent="-162306" algn="l">
              <a:lnSpc>
                <a:spcPts val="1755"/>
              </a:lnSpc>
              <a:buSzPct val="100000"/>
              <a:buChar char="•"/>
            </a:pPr>
            <a:r>
              <a:rPr lang="en-US" sz="1300" b="1" dirty="0">
                <a:solidFill>
                  <a:srgbClr val="FFFFFF"/>
                </a:solidFill>
                <a:latin typeface="Geist" pitchFamily="34" charset="0"/>
                <a:ea typeface="Geist" pitchFamily="34" charset="-122"/>
                <a:cs typeface="Geist" pitchFamily="34" charset="-120"/>
              </a:rPr>
              <a:t>Kein Wettbewerber mit echter Online-Buchung</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Mehr öffentliche Bauprojekte, Baukonjunktur erholt sich</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Mieten statt Kaufen</a:t>
            </a:r>
            <a:endParaRPr lang="en-US" sz="1300" dirty="0"/>
          </a:p>
        </p:txBody>
      </p:sp>
      <p:sp>
        <p:nvSpPr>
          <p:cNvPr id="17" name="Shape 15"/>
          <p:cNvSpPr/>
          <p:nvPr/>
        </p:nvSpPr>
        <p:spPr>
          <a:xfrm>
            <a:off x="6159500" y="4654550"/>
            <a:ext cx="5219700" cy="1397000"/>
          </a:xfrm>
          <a:prstGeom prst="rect">
            <a:avLst/>
          </a:prstGeom>
          <a:solidFill>
            <a:srgbClr val="1F5F6B"/>
          </a:solidFill>
          <a:ln/>
        </p:spPr>
        <p:txBody>
          <a:bodyPr/>
          <a:lstStyle/>
          <a:p>
            <a:endParaRPr lang="de-DE"/>
          </a:p>
        </p:txBody>
      </p:sp>
      <p:sp>
        <p:nvSpPr>
          <p:cNvPr id="18" name="Text 16"/>
          <p:cNvSpPr/>
          <p:nvPr/>
        </p:nvSpPr>
        <p:spPr>
          <a:xfrm>
            <a:off x="6413500" y="4857750"/>
            <a:ext cx="485305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Risiken</a:t>
            </a:r>
            <a:endParaRPr lang="en-US" sz="1600" dirty="0"/>
          </a:p>
        </p:txBody>
      </p:sp>
      <p:sp>
        <p:nvSpPr>
          <p:cNvPr id="19" name="Text 17"/>
          <p:cNvSpPr/>
          <p:nvPr/>
        </p:nvSpPr>
        <p:spPr>
          <a:xfrm>
            <a:off x="6505194" y="5177730"/>
            <a:ext cx="4753737" cy="693936"/>
          </a:xfrm>
          <a:prstGeom prst="rect">
            <a:avLst/>
          </a:prstGeom>
          <a:noFill/>
          <a:ln/>
        </p:spPr>
        <p:txBody>
          <a:bodyPr wrap="square" lIns="0" tIns="0" rIns="0" bIns="0" rtlCol="0" anchor="t">
            <a:normAutofit/>
          </a:bodyPr>
          <a:lstStyle/>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Starker Wettbewerb und Preisdruck</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Online-Plattformen</a:t>
            </a:r>
            <a:endParaRPr lang="en-US" sz="1300" dirty="0"/>
          </a:p>
          <a:p>
            <a:pPr marL="162306" indent="-162306" algn="l">
              <a:lnSpc>
                <a:spcPts val="1755"/>
              </a:lnSpc>
              <a:buSzPct val="100000"/>
              <a:buChar char="•"/>
            </a:pPr>
            <a:r>
              <a:rPr lang="en-US" sz="1300" dirty="0">
                <a:solidFill>
                  <a:srgbClr val="FFFFFF"/>
                </a:solidFill>
                <a:latin typeface="Geist" pitchFamily="34" charset="0"/>
                <a:ea typeface="Geist" pitchFamily="34" charset="-122"/>
                <a:cs typeface="Geist" pitchFamily="34" charset="-120"/>
              </a:rPr>
              <a:t>Saison, Energiepreise, steigende Vorgaben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WAS WOLLEN WIR ERREICHEN?</a:t>
            </a:r>
            <a:endParaRPr lang="en-US" sz="3600" dirty="0"/>
          </a:p>
        </p:txBody>
      </p:sp>
      <p:sp>
        <p:nvSpPr>
          <p:cNvPr id="3" name="Text 1"/>
          <p:cNvSpPr/>
          <p:nvPr/>
        </p:nvSpPr>
        <p:spPr>
          <a:xfrm>
            <a:off x="812800" y="13944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A1B"/>
                </a:solidFill>
                <a:latin typeface="Geist" pitchFamily="34" charset="0"/>
                <a:ea typeface="Geist" pitchFamily="34" charset="-122"/>
                <a:cs typeface="Geist" pitchFamily="34" charset="-120"/>
              </a:rPr>
              <a:t>SCHRITT 2 | #25 MARKETINGZIELE UND STRATEGIEN</a:t>
            </a:r>
            <a:endParaRPr lang="en-US" sz="1200" dirty="0"/>
          </a:p>
        </p:txBody>
      </p:sp>
      <p:sp>
        <p:nvSpPr>
          <p:cNvPr id="4" name="Shape 2"/>
          <p:cNvSpPr/>
          <p:nvPr/>
        </p:nvSpPr>
        <p:spPr>
          <a:xfrm>
            <a:off x="641350" y="3390900"/>
            <a:ext cx="5410200" cy="2654300"/>
          </a:xfrm>
          <a:prstGeom prst="rect">
            <a:avLst/>
          </a:prstGeom>
          <a:solidFill>
            <a:srgbClr val="1F5F6B"/>
          </a:solidFill>
          <a:ln/>
        </p:spPr>
        <p:txBody>
          <a:bodyPr/>
          <a:lstStyle/>
          <a:p>
            <a:endParaRPr lang="de-DE"/>
          </a:p>
        </p:txBody>
      </p:sp>
      <p:sp>
        <p:nvSpPr>
          <p:cNvPr id="5" name="Text 3"/>
          <p:cNvSpPr/>
          <p:nvPr/>
        </p:nvSpPr>
        <p:spPr>
          <a:xfrm>
            <a:off x="895350" y="3644900"/>
            <a:ext cx="504926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Marketingziele nach SMART</a:t>
            </a:r>
            <a:endParaRPr lang="en-US" sz="1600" dirty="0"/>
          </a:p>
        </p:txBody>
      </p:sp>
      <p:sp>
        <p:nvSpPr>
          <p:cNvPr id="6" name="Text 4"/>
          <p:cNvSpPr/>
          <p:nvPr/>
        </p:nvSpPr>
        <p:spPr>
          <a:xfrm>
            <a:off x="895350" y="3990280"/>
            <a:ext cx="5049266"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FFFFF"/>
                </a:solidFill>
                <a:latin typeface="Geist" pitchFamily="34" charset="0"/>
                <a:ea typeface="Geist" pitchFamily="34" charset="-122"/>
                <a:cs typeface="Geist" pitchFamily="34" charset="-120"/>
              </a:rPr>
              <a:t>Z1</a:t>
            </a:r>
            <a:r>
              <a:rPr lang="en-US" sz="1300" dirty="0">
                <a:solidFill>
                  <a:srgbClr val="FFFFFF"/>
                </a:solidFill>
                <a:latin typeface="Geist" pitchFamily="34" charset="0"/>
                <a:ea typeface="Geist" pitchFamily="34" charset="-122"/>
                <a:cs typeface="Geist" pitchFamily="34" charset="-120"/>
              </a:rPr>
              <a:t> 25 % der Mieten online bis Ende 2027</a:t>
            </a:r>
            <a:endParaRPr lang="en-US" sz="1300" dirty="0"/>
          </a:p>
        </p:txBody>
      </p:sp>
      <p:sp>
        <p:nvSpPr>
          <p:cNvPr id="7" name="Text 5"/>
          <p:cNvSpPr/>
          <p:nvPr/>
        </p:nvSpPr>
        <p:spPr>
          <a:xfrm>
            <a:off x="895350" y="4306491"/>
            <a:ext cx="5049266"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FFFFF"/>
                </a:solidFill>
                <a:latin typeface="Geist" pitchFamily="34" charset="0"/>
                <a:ea typeface="Geist" pitchFamily="34" charset="-122"/>
                <a:cs typeface="Geist" pitchFamily="34" charset="-120"/>
              </a:rPr>
              <a:t>Z2</a:t>
            </a:r>
            <a:r>
              <a:rPr lang="en-US" sz="1300" dirty="0">
                <a:solidFill>
                  <a:srgbClr val="FFFFFF"/>
                </a:solidFill>
                <a:latin typeface="Geist" pitchFamily="34" charset="0"/>
                <a:ea typeface="Geist" pitchFamily="34" charset="-122"/>
                <a:cs typeface="Geist" pitchFamily="34" charset="-120"/>
              </a:rPr>
              <a:t> Jeder 3. Online-Kunde kauft im Shop</a:t>
            </a:r>
            <a:endParaRPr lang="en-US" sz="1300" dirty="0"/>
          </a:p>
        </p:txBody>
      </p:sp>
      <p:sp>
        <p:nvSpPr>
          <p:cNvPr id="8" name="Text 6"/>
          <p:cNvSpPr/>
          <p:nvPr/>
        </p:nvSpPr>
        <p:spPr>
          <a:xfrm>
            <a:off x="895350" y="4622701"/>
            <a:ext cx="5049266"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FFFFF"/>
                </a:solidFill>
                <a:latin typeface="Geist" pitchFamily="34" charset="0"/>
                <a:ea typeface="Geist" pitchFamily="34" charset="-122"/>
                <a:cs typeface="Geist" pitchFamily="34" charset="-120"/>
              </a:rPr>
              <a:t>Z3</a:t>
            </a:r>
            <a:r>
              <a:rPr lang="en-US" sz="1300" dirty="0">
                <a:solidFill>
                  <a:srgbClr val="FFFFFF"/>
                </a:solidFill>
                <a:latin typeface="Geist" pitchFamily="34" charset="0"/>
                <a:ea typeface="Geist" pitchFamily="34" charset="-122"/>
                <a:cs typeface="Geist" pitchFamily="34" charset="-120"/>
              </a:rPr>
              <a:t> +10 % Umsatz mit kleinen und mittleren Betrieben</a:t>
            </a:r>
            <a:endParaRPr lang="en-US" sz="1300" dirty="0"/>
          </a:p>
        </p:txBody>
      </p:sp>
      <p:sp>
        <p:nvSpPr>
          <p:cNvPr id="9" name="Text 7"/>
          <p:cNvSpPr/>
          <p:nvPr/>
        </p:nvSpPr>
        <p:spPr>
          <a:xfrm>
            <a:off x="895350" y="4938911"/>
            <a:ext cx="5049266"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FFFFF"/>
                </a:solidFill>
                <a:latin typeface="Geist" pitchFamily="34" charset="0"/>
                <a:ea typeface="Geist" pitchFamily="34" charset="-122"/>
                <a:cs typeface="Geist" pitchFamily="34" charset="-120"/>
              </a:rPr>
              <a:t>Z4</a:t>
            </a:r>
            <a:r>
              <a:rPr lang="en-US" sz="1300" dirty="0">
                <a:solidFill>
                  <a:srgbClr val="FFFFFF"/>
                </a:solidFill>
                <a:latin typeface="Geist" pitchFamily="34" charset="0"/>
                <a:ea typeface="Geist" pitchFamily="34" charset="-122"/>
                <a:cs typeface="Geist" pitchFamily="34" charset="-120"/>
              </a:rPr>
              <a:t> 40 % Bekanntheit bei Betrieben in NRW</a:t>
            </a:r>
            <a:endParaRPr lang="en-US" sz="1300" dirty="0"/>
          </a:p>
        </p:txBody>
      </p:sp>
      <p:sp>
        <p:nvSpPr>
          <p:cNvPr id="10" name="Text 8"/>
          <p:cNvSpPr/>
          <p:nvPr/>
        </p:nvSpPr>
        <p:spPr>
          <a:xfrm>
            <a:off x="895350" y="5255121"/>
            <a:ext cx="5049266"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FFFFF"/>
                </a:solidFill>
                <a:latin typeface="Geist" pitchFamily="34" charset="0"/>
                <a:ea typeface="Geist" pitchFamily="34" charset="-122"/>
                <a:cs typeface="Geist" pitchFamily="34" charset="-120"/>
              </a:rPr>
              <a:t>Z5</a:t>
            </a:r>
            <a:r>
              <a:rPr lang="en-US" sz="1300" dirty="0">
                <a:solidFill>
                  <a:srgbClr val="FFFFFF"/>
                </a:solidFill>
                <a:latin typeface="Geist" pitchFamily="34" charset="0"/>
                <a:ea typeface="Geist" pitchFamily="34" charset="-122"/>
                <a:cs typeface="Geist" pitchFamily="34" charset="-120"/>
              </a:rPr>
              <a:t> Mindestens 4,5 Sterne bei Google</a:t>
            </a:r>
            <a:endParaRPr lang="en-US" sz="1300" dirty="0"/>
          </a:p>
        </p:txBody>
      </p:sp>
      <p:sp>
        <p:nvSpPr>
          <p:cNvPr id="11" name="Text 9"/>
          <p:cNvSpPr/>
          <p:nvPr/>
        </p:nvSpPr>
        <p:spPr>
          <a:xfrm>
            <a:off x="895350" y="5571331"/>
            <a:ext cx="5049266"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FFFFF"/>
                </a:solidFill>
                <a:latin typeface="Geist" pitchFamily="34" charset="0"/>
                <a:ea typeface="Geist" pitchFamily="34" charset="-122"/>
                <a:cs typeface="Geist" pitchFamily="34" charset="-120"/>
              </a:rPr>
              <a:t>Z6</a:t>
            </a:r>
            <a:r>
              <a:rPr lang="en-US" sz="1300" dirty="0">
                <a:solidFill>
                  <a:srgbClr val="FFFFFF"/>
                </a:solidFill>
                <a:latin typeface="Geist" pitchFamily="34" charset="0"/>
                <a:ea typeface="Geist" pitchFamily="34" charset="-122"/>
                <a:cs typeface="Geist" pitchFamily="34" charset="-120"/>
              </a:rPr>
              <a:t> 3.000 Newsletter-Abos</a:t>
            </a:r>
            <a:endParaRPr lang="en-US" sz="1300" dirty="0"/>
          </a:p>
        </p:txBody>
      </p:sp>
      <p:sp>
        <p:nvSpPr>
          <p:cNvPr id="12" name="Text 10"/>
          <p:cNvSpPr/>
          <p:nvPr/>
        </p:nvSpPr>
        <p:spPr>
          <a:xfrm>
            <a:off x="6305550" y="3644900"/>
            <a:ext cx="50492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Ökonomische Strategien</a:t>
            </a:r>
            <a:endParaRPr lang="en-US" sz="1200" dirty="0"/>
          </a:p>
        </p:txBody>
      </p:sp>
      <p:sp>
        <p:nvSpPr>
          <p:cNvPr id="13" name="Text 11"/>
          <p:cNvSpPr/>
          <p:nvPr/>
        </p:nvSpPr>
        <p:spPr>
          <a:xfrm>
            <a:off x="6305550" y="4061420"/>
            <a:ext cx="5049266" cy="7683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FFFFF"/>
                </a:solidFill>
                <a:latin typeface="Geist" pitchFamily="34" charset="0"/>
                <a:ea typeface="Geist" pitchFamily="34" charset="-122"/>
                <a:cs typeface="Geist" pitchFamily="34" charset="-120"/>
              </a:rPr>
              <a:t>Marktdurchdringung und Differenzierung </a:t>
            </a:r>
            <a:endParaRPr lang="en-US" sz="1500" dirty="0"/>
          </a:p>
          <a:p>
            <a:pPr marL="0" indent="0" algn="l">
              <a:lnSpc>
                <a:spcPts val="1950"/>
              </a:lnSpc>
              <a:buNone/>
            </a:pPr>
            <a:endParaRPr lang="en-US" sz="1500" dirty="0"/>
          </a:p>
          <a:p>
            <a:pPr marL="0" indent="0" algn="l">
              <a:lnSpc>
                <a:spcPts val="1950"/>
              </a:lnSpc>
              <a:buNone/>
            </a:pPr>
            <a:r>
              <a:rPr lang="en-US" sz="1500" b="1" dirty="0">
                <a:solidFill>
                  <a:srgbClr val="FFFFFF"/>
                </a:solidFill>
                <a:latin typeface="Geist" pitchFamily="34" charset="0"/>
                <a:ea typeface="Geist" pitchFamily="34" charset="-122"/>
                <a:cs typeface="Geist" pitchFamily="34" charset="-120"/>
              </a:rPr>
              <a:t>statt Preiskampf </a:t>
            </a:r>
            <a:endParaRPr lang="en-US" sz="1500" dirty="0"/>
          </a:p>
        </p:txBody>
      </p:sp>
      <p:sp>
        <p:nvSpPr>
          <p:cNvPr id="14" name="Text 12"/>
          <p:cNvSpPr/>
          <p:nvPr/>
        </p:nvSpPr>
        <p:spPr>
          <a:xfrm>
            <a:off x="6305550" y="5007570"/>
            <a:ext cx="50492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Psychologische Strategien</a:t>
            </a:r>
            <a:endParaRPr lang="en-US" sz="1200" dirty="0"/>
          </a:p>
        </p:txBody>
      </p:sp>
      <p:sp>
        <p:nvSpPr>
          <p:cNvPr id="15" name="Text 13"/>
          <p:cNvSpPr/>
          <p:nvPr/>
        </p:nvSpPr>
        <p:spPr>
          <a:xfrm>
            <a:off x="6305550" y="5424091"/>
            <a:ext cx="5882640" cy="273050"/>
          </a:xfrm>
          <a:prstGeom prst="rect">
            <a:avLst/>
          </a:prstGeom>
          <a:noFill/>
          <a:ln/>
        </p:spPr>
        <p:txBody>
          <a:bodyPr wrap="square" lIns="0" tIns="0" rIns="0" bIns="0" rtlCol="0" anchor="t">
            <a:normAutofit/>
          </a:bodyPr>
          <a:lstStyle/>
          <a:p>
            <a:pPr marL="0" indent="0" algn="l">
              <a:lnSpc>
                <a:spcPts val="1950"/>
              </a:lnSpc>
              <a:buNone/>
            </a:pPr>
            <a:r>
              <a:rPr lang="en-US" sz="1500" b="1" dirty="0">
                <a:solidFill>
                  <a:srgbClr val="FFFFFF"/>
                </a:solidFill>
                <a:latin typeface="Geist" pitchFamily="34" charset="0"/>
                <a:ea typeface="Geist" pitchFamily="34" charset="-122"/>
                <a:cs typeface="Geist" pitchFamily="34" charset="-120"/>
              </a:rPr>
              <a:t>Zuerst Bekanntheit, dazu Image und Kundenbindung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pic>
        <p:nvPicPr>
          <p:cNvPr id="2" name="Image 0" descr="line"/>
          <p:cNvPicPr>
            <a:picLocks noChangeAspect="1"/>
          </p:cNvPicPr>
          <p:nvPr/>
        </p:nvPicPr>
        <p:blipFill>
          <a:blip r:embed="rId3"/>
          <a:srcRect/>
          <a:stretch/>
        </p:blipFill>
        <p:spPr>
          <a:xfrm>
            <a:off x="7493000" y="4000500"/>
            <a:ext cx="3886200" cy="25400"/>
          </a:xfrm>
          <a:prstGeom prst="rect">
            <a:avLst/>
          </a:prstGeom>
        </p:spPr>
      </p:pic>
      <p:sp>
        <p:nvSpPr>
          <p:cNvPr id="3" name="Shape 0"/>
          <p:cNvSpPr/>
          <p:nvPr/>
        </p:nvSpPr>
        <p:spPr>
          <a:xfrm>
            <a:off x="9429750" y="2286000"/>
            <a:ext cx="12700" cy="3429000"/>
          </a:xfrm>
          <a:prstGeom prst="rect">
            <a:avLst/>
          </a:prstGeom>
          <a:solidFill>
            <a:srgbClr val="1F5F6B"/>
          </a:solidFill>
          <a:ln/>
        </p:spPr>
        <p:txBody>
          <a:bodyPr/>
          <a:lstStyle/>
          <a:p>
            <a:endParaRPr lang="de-DE"/>
          </a:p>
        </p:txBody>
      </p:sp>
      <p:sp>
        <p:nvSpPr>
          <p:cNvPr id="4" name="Text 1"/>
          <p:cNvSpPr/>
          <p:nvPr/>
        </p:nvSpPr>
        <p:spPr>
          <a:xfrm>
            <a:off x="9525000" y="2260600"/>
            <a:ext cx="19098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online buchbar</a:t>
            </a:r>
            <a:endParaRPr lang="en-US" sz="1200" dirty="0"/>
          </a:p>
        </p:txBody>
      </p:sp>
      <p:sp>
        <p:nvSpPr>
          <p:cNvPr id="5" name="Text 2"/>
          <p:cNvSpPr/>
          <p:nvPr/>
        </p:nvSpPr>
        <p:spPr>
          <a:xfrm>
            <a:off x="9525000" y="5524500"/>
            <a:ext cx="19098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nur auf Anfrage</a:t>
            </a:r>
            <a:endParaRPr lang="en-US" sz="1200" dirty="0"/>
          </a:p>
        </p:txBody>
      </p:sp>
      <p:sp>
        <p:nvSpPr>
          <p:cNvPr id="6" name="Text 3"/>
          <p:cNvSpPr/>
          <p:nvPr/>
        </p:nvSpPr>
        <p:spPr>
          <a:xfrm>
            <a:off x="7493000" y="4089400"/>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günstig</a:t>
            </a:r>
            <a:endParaRPr lang="en-US" sz="1200" dirty="0"/>
          </a:p>
        </p:txBody>
      </p:sp>
      <p:sp>
        <p:nvSpPr>
          <p:cNvPr id="7" name="Text 4"/>
          <p:cNvSpPr/>
          <p:nvPr/>
        </p:nvSpPr>
        <p:spPr>
          <a:xfrm>
            <a:off x="10058400" y="408940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4C7"/>
                </a:solidFill>
                <a:latin typeface="Geist" pitchFamily="34" charset="0"/>
                <a:ea typeface="Geist" pitchFamily="34" charset="-122"/>
                <a:cs typeface="Geist" pitchFamily="34" charset="-120"/>
              </a:rPr>
              <a:t>teuer</a:t>
            </a:r>
            <a:endParaRPr lang="en-US" sz="1200" dirty="0"/>
          </a:p>
        </p:txBody>
      </p:sp>
      <p:sp>
        <p:nvSpPr>
          <p:cNvPr id="8" name="Shape 5"/>
          <p:cNvSpPr/>
          <p:nvPr/>
        </p:nvSpPr>
        <p:spPr>
          <a:xfrm>
            <a:off x="9359900" y="2616200"/>
            <a:ext cx="152400" cy="152400"/>
          </a:xfrm>
          <a:prstGeom prst="roundRect">
            <a:avLst>
              <a:gd name="adj" fmla="val 50000"/>
            </a:avLst>
          </a:prstGeom>
          <a:solidFill>
            <a:srgbClr val="F26A1B"/>
          </a:solidFill>
          <a:ln/>
        </p:spPr>
        <p:txBody>
          <a:bodyPr/>
          <a:lstStyle/>
          <a:p>
            <a:endParaRPr lang="de-DE"/>
          </a:p>
        </p:txBody>
      </p:sp>
      <p:sp>
        <p:nvSpPr>
          <p:cNvPr id="9" name="Text 6"/>
          <p:cNvSpPr/>
          <p:nvPr/>
        </p:nvSpPr>
        <p:spPr>
          <a:xfrm>
            <a:off x="7243445" y="2578100"/>
            <a:ext cx="2027555"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FFFFF"/>
                </a:solidFill>
                <a:latin typeface="Geist" pitchFamily="34" charset="0"/>
                <a:ea typeface="Geist" pitchFamily="34" charset="-122"/>
                <a:cs typeface="Geist" pitchFamily="34" charset="-120"/>
              </a:rPr>
              <a:t>Kettenhof NRW (Ziel)</a:t>
            </a:r>
            <a:endParaRPr lang="en-US" sz="1200" dirty="0"/>
          </a:p>
        </p:txBody>
      </p:sp>
      <p:sp>
        <p:nvSpPr>
          <p:cNvPr id="10" name="Shape 7"/>
          <p:cNvSpPr/>
          <p:nvPr/>
        </p:nvSpPr>
        <p:spPr>
          <a:xfrm>
            <a:off x="10033000" y="2984500"/>
            <a:ext cx="127000" cy="127000"/>
          </a:xfrm>
          <a:prstGeom prst="roundRect">
            <a:avLst>
              <a:gd name="adj" fmla="val 50000"/>
            </a:avLst>
          </a:prstGeom>
          <a:solidFill>
            <a:srgbClr val="B8C4C7"/>
          </a:solidFill>
          <a:ln/>
        </p:spPr>
        <p:txBody>
          <a:bodyPr/>
          <a:lstStyle/>
          <a:p>
            <a:endParaRPr lang="de-DE"/>
          </a:p>
        </p:txBody>
      </p:sp>
      <p:sp>
        <p:nvSpPr>
          <p:cNvPr id="11" name="Text 8"/>
          <p:cNvSpPr/>
          <p:nvPr/>
        </p:nvSpPr>
        <p:spPr>
          <a:xfrm>
            <a:off x="10223500" y="2946400"/>
            <a:ext cx="1206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Zeppelin</a:t>
            </a:r>
            <a:endParaRPr lang="en-US" sz="1200" dirty="0"/>
          </a:p>
        </p:txBody>
      </p:sp>
      <p:sp>
        <p:nvSpPr>
          <p:cNvPr id="12" name="Shape 9"/>
          <p:cNvSpPr/>
          <p:nvPr/>
        </p:nvSpPr>
        <p:spPr>
          <a:xfrm>
            <a:off x="9436100" y="3625850"/>
            <a:ext cx="127000" cy="127000"/>
          </a:xfrm>
          <a:prstGeom prst="roundRect">
            <a:avLst>
              <a:gd name="adj" fmla="val 50000"/>
            </a:avLst>
          </a:prstGeom>
          <a:solidFill>
            <a:srgbClr val="B8C4C7"/>
          </a:solidFill>
          <a:ln/>
        </p:spPr>
        <p:txBody>
          <a:bodyPr/>
          <a:lstStyle/>
          <a:p>
            <a:endParaRPr lang="de-DE"/>
          </a:p>
        </p:txBody>
      </p:sp>
      <p:sp>
        <p:nvSpPr>
          <p:cNvPr id="13" name="Text 10"/>
          <p:cNvSpPr/>
          <p:nvPr/>
        </p:nvSpPr>
        <p:spPr>
          <a:xfrm>
            <a:off x="9626600" y="3587750"/>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Schlüter</a:t>
            </a:r>
            <a:endParaRPr lang="en-US" sz="1200" dirty="0"/>
          </a:p>
        </p:txBody>
      </p:sp>
      <p:sp>
        <p:nvSpPr>
          <p:cNvPr id="14" name="Shape 11"/>
          <p:cNvSpPr/>
          <p:nvPr/>
        </p:nvSpPr>
        <p:spPr>
          <a:xfrm>
            <a:off x="9036050" y="4248150"/>
            <a:ext cx="127000" cy="127000"/>
          </a:xfrm>
          <a:prstGeom prst="roundRect">
            <a:avLst>
              <a:gd name="adj" fmla="val 50000"/>
            </a:avLst>
          </a:prstGeom>
          <a:solidFill>
            <a:srgbClr val="B8C4C7"/>
          </a:solidFill>
          <a:ln/>
        </p:spPr>
        <p:txBody>
          <a:bodyPr/>
          <a:lstStyle/>
          <a:p>
            <a:endParaRPr lang="de-DE"/>
          </a:p>
        </p:txBody>
      </p:sp>
      <p:sp>
        <p:nvSpPr>
          <p:cNvPr id="15" name="Text 12"/>
          <p:cNvSpPr/>
          <p:nvPr/>
        </p:nvSpPr>
        <p:spPr>
          <a:xfrm>
            <a:off x="7696200" y="4210050"/>
            <a:ext cx="12573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4C7"/>
                </a:solidFill>
                <a:latin typeface="Geist" pitchFamily="34" charset="0"/>
                <a:ea typeface="Geist" pitchFamily="34" charset="-122"/>
                <a:cs typeface="Geist" pitchFamily="34" charset="-120"/>
              </a:rPr>
              <a:t>Rausch</a:t>
            </a:r>
            <a:endParaRPr lang="en-US" sz="1200" dirty="0"/>
          </a:p>
        </p:txBody>
      </p:sp>
      <p:sp>
        <p:nvSpPr>
          <p:cNvPr id="16" name="Text 13"/>
          <p:cNvSpPr>
            <a:spLocks noGrp="1"/>
          </p:cNvSpPr>
          <p:nvPr>
            <p:ph type="title"/>
          </p:nvPr>
        </p:nvSpPr>
        <p:spPr>
          <a:xfrm>
            <a:off x="812800" y="81280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WEN SPRECHEN WIR AN?</a:t>
            </a:r>
            <a:endParaRPr lang="en-US" sz="3600" dirty="0"/>
          </a:p>
        </p:txBody>
      </p:sp>
      <p:sp>
        <p:nvSpPr>
          <p:cNvPr id="17" name="Text 14"/>
          <p:cNvSpPr/>
          <p:nvPr/>
        </p:nvSpPr>
        <p:spPr>
          <a:xfrm>
            <a:off x="812800" y="13944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A1B"/>
                </a:solidFill>
                <a:latin typeface="Geist" pitchFamily="34" charset="0"/>
                <a:ea typeface="Geist" pitchFamily="34" charset="-122"/>
                <a:cs typeface="Geist" pitchFamily="34" charset="-120"/>
              </a:rPr>
              <a:t>SCHRITT 2 | #25 STP-ANSATZ</a:t>
            </a:r>
            <a:endParaRPr lang="en-US" sz="1200" dirty="0"/>
          </a:p>
        </p:txBody>
      </p:sp>
      <p:sp>
        <p:nvSpPr>
          <p:cNvPr id="18" name="Text 15"/>
          <p:cNvSpPr/>
          <p:nvPr/>
        </p:nvSpPr>
        <p:spPr>
          <a:xfrm>
            <a:off x="812800" y="2724150"/>
            <a:ext cx="5080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26A1B"/>
                </a:solidFill>
                <a:latin typeface="Geist" pitchFamily="34" charset="0"/>
                <a:ea typeface="Geist" pitchFamily="34" charset="-122"/>
                <a:cs typeface="Geist" pitchFamily="34" charset="-120"/>
              </a:rPr>
              <a:t>S</a:t>
            </a:r>
            <a:endParaRPr lang="en-US" sz="3200" dirty="0"/>
          </a:p>
        </p:txBody>
      </p:sp>
      <p:sp>
        <p:nvSpPr>
          <p:cNvPr id="19" name="Text 16"/>
          <p:cNvSpPr/>
          <p:nvPr/>
        </p:nvSpPr>
        <p:spPr>
          <a:xfrm>
            <a:off x="1422400" y="2724150"/>
            <a:ext cx="552018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C4C7"/>
                </a:solidFill>
                <a:latin typeface="Geist" pitchFamily="34" charset="0"/>
                <a:ea typeface="Geist" pitchFamily="34" charset="-122"/>
                <a:cs typeface="Geist" pitchFamily="34" charset="-120"/>
              </a:rPr>
              <a:t>SEGMENTIERUNG IN 4 TEILMÄRKTE</a:t>
            </a:r>
            <a:endParaRPr lang="en-US" sz="1200" dirty="0"/>
          </a:p>
        </p:txBody>
      </p:sp>
      <p:sp>
        <p:nvSpPr>
          <p:cNvPr id="20" name="Text 17"/>
          <p:cNvSpPr/>
          <p:nvPr/>
        </p:nvSpPr>
        <p:spPr>
          <a:xfrm>
            <a:off x="1422400" y="2988270"/>
            <a:ext cx="552018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Geist" pitchFamily="34" charset="0"/>
                <a:ea typeface="Geist" pitchFamily="34" charset="-122"/>
                <a:cs typeface="Geist" pitchFamily="34" charset="-120"/>
              </a:rPr>
              <a:t>Große Bauunternehmen · </a:t>
            </a:r>
            <a:r>
              <a:rPr lang="en-US" sz="1400" b="1" dirty="0">
                <a:solidFill>
                  <a:srgbClr val="F26A1B"/>
                </a:solidFill>
                <a:latin typeface="Geist" pitchFamily="34" charset="0"/>
                <a:ea typeface="Geist" pitchFamily="34" charset="-122"/>
                <a:cs typeface="Geist" pitchFamily="34" charset="-120"/>
              </a:rPr>
              <a:t>Kleine und mittlere Betriebe</a:t>
            </a:r>
            <a:r>
              <a:rPr lang="en-US" sz="1400" dirty="0">
                <a:solidFill>
                  <a:srgbClr val="FFFFFF"/>
                </a:solidFill>
                <a:latin typeface="Geist" pitchFamily="34" charset="0"/>
                <a:ea typeface="Geist" pitchFamily="34" charset="-122"/>
                <a:cs typeface="Geist" pitchFamily="34" charset="-120"/>
              </a:rPr>
              <a:t> · Kommunen · Privatkunden</a:t>
            </a:r>
            <a:endParaRPr lang="en-US" sz="1400" dirty="0"/>
          </a:p>
        </p:txBody>
      </p:sp>
      <p:sp>
        <p:nvSpPr>
          <p:cNvPr id="21" name="Text 18"/>
          <p:cNvSpPr/>
          <p:nvPr/>
        </p:nvSpPr>
        <p:spPr>
          <a:xfrm>
            <a:off x="812800" y="3714552"/>
            <a:ext cx="5080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26A1B"/>
                </a:solidFill>
                <a:latin typeface="Geist" pitchFamily="34" charset="0"/>
                <a:ea typeface="Geist" pitchFamily="34" charset="-122"/>
                <a:cs typeface="Geist" pitchFamily="34" charset="-120"/>
              </a:rPr>
              <a:t>T</a:t>
            </a:r>
            <a:endParaRPr lang="en-US" sz="3200" dirty="0"/>
          </a:p>
        </p:txBody>
      </p:sp>
      <p:sp>
        <p:nvSpPr>
          <p:cNvPr id="22" name="Text 19"/>
          <p:cNvSpPr/>
          <p:nvPr/>
        </p:nvSpPr>
        <p:spPr>
          <a:xfrm>
            <a:off x="1422400" y="3714552"/>
            <a:ext cx="552018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C4C7"/>
                </a:solidFill>
                <a:latin typeface="Geist" pitchFamily="34" charset="0"/>
                <a:ea typeface="Geist" pitchFamily="34" charset="-122"/>
                <a:cs typeface="Geist" pitchFamily="34" charset="-120"/>
              </a:rPr>
              <a:t>TARGETING, KONZENTRIERT</a:t>
            </a:r>
            <a:endParaRPr lang="en-US" sz="1200" dirty="0"/>
          </a:p>
        </p:txBody>
      </p:sp>
      <p:sp>
        <p:nvSpPr>
          <p:cNvPr id="23" name="Text 20"/>
          <p:cNvSpPr/>
          <p:nvPr/>
        </p:nvSpPr>
        <p:spPr>
          <a:xfrm>
            <a:off x="1422400" y="3978672"/>
            <a:ext cx="5520182" cy="565150"/>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FFFFF"/>
                </a:solidFill>
                <a:latin typeface="Geist" pitchFamily="34" charset="0"/>
                <a:ea typeface="Geist" pitchFamily="34" charset="-122"/>
                <a:cs typeface="Geist" pitchFamily="34" charset="-120"/>
              </a:rPr>
              <a:t>Kleine und mittlere Bau- und Handwerksbetriebe in NRW</a:t>
            </a:r>
            <a:endParaRPr lang="en-US" sz="1700" dirty="0"/>
          </a:p>
        </p:txBody>
      </p:sp>
      <p:sp>
        <p:nvSpPr>
          <p:cNvPr id="24" name="Text 21"/>
          <p:cNvSpPr/>
          <p:nvPr/>
        </p:nvSpPr>
        <p:spPr>
          <a:xfrm>
            <a:off x="1422400" y="4569222"/>
            <a:ext cx="552018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B8C4C7"/>
                </a:solidFill>
                <a:latin typeface="Geist" pitchFamily="34" charset="0"/>
                <a:ea typeface="Geist" pitchFamily="34" charset="-122"/>
                <a:cs typeface="Geist" pitchFamily="34" charset="-120"/>
              </a:rPr>
              <a:t>Brauchen Geräte schnell und in der Nähe, genau das bietet unser Filialnetz</a:t>
            </a:r>
            <a:endParaRPr lang="en-US" sz="1300" dirty="0"/>
          </a:p>
        </p:txBody>
      </p:sp>
      <p:sp>
        <p:nvSpPr>
          <p:cNvPr id="25" name="Text 22"/>
          <p:cNvSpPr/>
          <p:nvPr/>
        </p:nvSpPr>
        <p:spPr>
          <a:xfrm>
            <a:off x="812800" y="5243513"/>
            <a:ext cx="5080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F26A1B"/>
                </a:solidFill>
                <a:latin typeface="Geist" pitchFamily="34" charset="0"/>
                <a:ea typeface="Geist" pitchFamily="34" charset="-122"/>
                <a:cs typeface="Geist" pitchFamily="34" charset="-120"/>
              </a:rPr>
              <a:t>P</a:t>
            </a:r>
            <a:endParaRPr lang="en-US" sz="3200" dirty="0"/>
          </a:p>
        </p:txBody>
      </p:sp>
      <p:sp>
        <p:nvSpPr>
          <p:cNvPr id="26" name="Text 23"/>
          <p:cNvSpPr/>
          <p:nvPr/>
        </p:nvSpPr>
        <p:spPr>
          <a:xfrm>
            <a:off x="1422400" y="5243513"/>
            <a:ext cx="552018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C4C7"/>
                </a:solidFill>
                <a:latin typeface="Geist" pitchFamily="34" charset="0"/>
                <a:ea typeface="Geist" pitchFamily="34" charset="-122"/>
                <a:cs typeface="Geist" pitchFamily="34" charset="-120"/>
              </a:rPr>
              <a:t>POSITIONIERUNG</a:t>
            </a:r>
            <a:endParaRPr lang="en-US" sz="1200" dirty="0"/>
          </a:p>
        </p:txBody>
      </p:sp>
      <p:sp>
        <p:nvSpPr>
          <p:cNvPr id="27" name="Text 24"/>
          <p:cNvSpPr/>
          <p:nvPr/>
        </p:nvSpPr>
        <p:spPr>
          <a:xfrm>
            <a:off x="1422400" y="5507633"/>
            <a:ext cx="5520182" cy="565150"/>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FFFFFF"/>
                </a:solidFill>
                <a:latin typeface="Geist" pitchFamily="34" charset="0"/>
                <a:ea typeface="Geist" pitchFamily="34" charset="-122"/>
                <a:cs typeface="Geist" pitchFamily="34" charset="-120"/>
              </a:rPr>
              <a:t>Mittelpreisig, online buchbar, Rückgabe in jeder Filiale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WETTBEWERBER ANALYSIERT</a:t>
            </a:r>
            <a:endParaRPr lang="en-US" sz="3600" dirty="0"/>
          </a:p>
        </p:txBody>
      </p:sp>
      <p:sp>
        <p:nvSpPr>
          <p:cNvPr id="3" name="Text 1"/>
          <p:cNvSpPr/>
          <p:nvPr/>
        </p:nvSpPr>
        <p:spPr>
          <a:xfrm>
            <a:off x="812800" y="13944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A1B"/>
                </a:solidFill>
                <a:latin typeface="Geist" pitchFamily="34" charset="0"/>
                <a:ea typeface="Geist" pitchFamily="34" charset="-122"/>
                <a:cs typeface="Geist" pitchFamily="34" charset="-120"/>
              </a:rPr>
              <a:t>SCHRITT 3 | #39 BRANDING-WETTBEWERBSANALYSE</a:t>
            </a:r>
            <a:endParaRPr lang="en-US" sz="1200" dirty="0"/>
          </a:p>
        </p:txBody>
      </p:sp>
      <p:sp>
        <p:nvSpPr>
          <p:cNvPr id="4" name="Text 2"/>
          <p:cNvSpPr/>
          <p:nvPr/>
        </p:nvSpPr>
        <p:spPr>
          <a:xfrm>
            <a:off x="812800" y="28829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4C7"/>
                </a:solidFill>
                <a:latin typeface="Geist" pitchFamily="34" charset="0"/>
                <a:ea typeface="Geist" pitchFamily="34" charset="-122"/>
                <a:cs typeface="Geist" pitchFamily="34" charset="-120"/>
              </a:rPr>
              <a:t>Zeppelin Rental · Schlüter · Rausch · Boels · HKL · Kiloutou · Loxam · mateco · klarx · OBI · Hornbach</a:t>
            </a:r>
            <a:endParaRPr lang="en-US" sz="1200" dirty="0"/>
          </a:p>
        </p:txBody>
      </p:sp>
      <p:sp>
        <p:nvSpPr>
          <p:cNvPr id="5" name="Shape 3"/>
          <p:cNvSpPr/>
          <p:nvPr/>
        </p:nvSpPr>
        <p:spPr>
          <a:xfrm>
            <a:off x="812800" y="3575050"/>
            <a:ext cx="2546350" cy="2470150"/>
          </a:xfrm>
          <a:prstGeom prst="rect">
            <a:avLst/>
          </a:prstGeom>
          <a:solidFill>
            <a:srgbClr val="1F5F6B"/>
          </a:solidFill>
          <a:ln/>
        </p:spPr>
        <p:txBody>
          <a:bodyPr/>
          <a:lstStyle/>
          <a:p>
            <a:endParaRPr lang="de-DE"/>
          </a:p>
        </p:txBody>
      </p:sp>
      <p:sp>
        <p:nvSpPr>
          <p:cNvPr id="6" name="Text 4"/>
          <p:cNvSpPr/>
          <p:nvPr/>
        </p:nvSpPr>
        <p:spPr>
          <a:xfrm>
            <a:off x="1016000" y="3778250"/>
            <a:ext cx="220414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Farben</a:t>
            </a:r>
            <a:endParaRPr lang="en-US" sz="1600" dirty="0"/>
          </a:p>
        </p:txBody>
      </p:sp>
      <p:sp>
        <p:nvSpPr>
          <p:cNvPr id="7" name="Text 5"/>
          <p:cNvSpPr/>
          <p:nvPr/>
        </p:nvSpPr>
        <p:spPr>
          <a:xfrm>
            <a:off x="1016000" y="4098230"/>
            <a:ext cx="2204149"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Fast alle nutzen Orange, Rot oder Gelb mit Schwarz und Weiß</a:t>
            </a:r>
            <a:endParaRPr lang="en-US" sz="1300" dirty="0"/>
          </a:p>
        </p:txBody>
      </p:sp>
      <p:sp>
        <p:nvSpPr>
          <p:cNvPr id="8" name="Shape 6"/>
          <p:cNvSpPr/>
          <p:nvPr/>
        </p:nvSpPr>
        <p:spPr>
          <a:xfrm>
            <a:off x="1016000" y="4818261"/>
            <a:ext cx="2139950" cy="12700"/>
          </a:xfrm>
          <a:prstGeom prst="rect">
            <a:avLst/>
          </a:prstGeom>
          <a:solidFill>
            <a:srgbClr val="FFFFFF"/>
          </a:solidFill>
          <a:ln/>
        </p:spPr>
        <p:txBody>
          <a:bodyPr/>
          <a:lstStyle/>
          <a:p>
            <a:endParaRPr lang="de-DE"/>
          </a:p>
        </p:txBody>
      </p:sp>
      <p:sp>
        <p:nvSpPr>
          <p:cNvPr id="9" name="Text 7"/>
          <p:cNvSpPr/>
          <p:nvPr/>
        </p:nvSpPr>
        <p:spPr>
          <a:xfrm>
            <a:off x="1016000" y="4907161"/>
            <a:ext cx="220414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6A1B"/>
                </a:solidFill>
                <a:latin typeface="Geist" pitchFamily="34" charset="0"/>
                <a:ea typeface="Geist" pitchFamily="34" charset="-122"/>
                <a:cs typeface="Geist" pitchFamily="34" charset="-120"/>
              </a:rPr>
              <a:t>Für uns</a:t>
            </a:r>
            <a:endParaRPr lang="en-US" sz="1200" dirty="0"/>
          </a:p>
        </p:txBody>
      </p:sp>
      <p:sp>
        <p:nvSpPr>
          <p:cNvPr id="10" name="Text 8"/>
          <p:cNvSpPr/>
          <p:nvPr/>
        </p:nvSpPr>
        <p:spPr>
          <a:xfrm>
            <a:off x="1016000" y="5196681"/>
            <a:ext cx="2204149"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Orange nur als Akzent, Petrol als Lücke</a:t>
            </a:r>
            <a:endParaRPr lang="en-US" sz="1300" dirty="0"/>
          </a:p>
        </p:txBody>
      </p:sp>
      <p:sp>
        <p:nvSpPr>
          <p:cNvPr id="11" name="Shape 9"/>
          <p:cNvSpPr/>
          <p:nvPr/>
        </p:nvSpPr>
        <p:spPr>
          <a:xfrm>
            <a:off x="3486150" y="3575050"/>
            <a:ext cx="2546350" cy="2470150"/>
          </a:xfrm>
          <a:prstGeom prst="rect">
            <a:avLst/>
          </a:prstGeom>
          <a:solidFill>
            <a:srgbClr val="1F5F6B"/>
          </a:solidFill>
          <a:ln/>
        </p:spPr>
        <p:txBody>
          <a:bodyPr/>
          <a:lstStyle/>
          <a:p>
            <a:endParaRPr lang="de-DE"/>
          </a:p>
        </p:txBody>
      </p:sp>
      <p:sp>
        <p:nvSpPr>
          <p:cNvPr id="12" name="Text 10"/>
          <p:cNvSpPr/>
          <p:nvPr/>
        </p:nvSpPr>
        <p:spPr>
          <a:xfrm>
            <a:off x="3689350" y="3778250"/>
            <a:ext cx="220414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Logos</a:t>
            </a:r>
            <a:endParaRPr lang="en-US" sz="1600" dirty="0"/>
          </a:p>
        </p:txBody>
      </p:sp>
      <p:sp>
        <p:nvSpPr>
          <p:cNvPr id="13" name="Text 11"/>
          <p:cNvSpPr/>
          <p:nvPr/>
        </p:nvSpPr>
        <p:spPr>
          <a:xfrm>
            <a:off x="3689350" y="4098230"/>
            <a:ext cx="2204149"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Fast nur fette Wortmarken, ein Bildzeichen haben nur drei</a:t>
            </a:r>
            <a:endParaRPr lang="en-US" sz="1300" dirty="0"/>
          </a:p>
        </p:txBody>
      </p:sp>
      <p:sp>
        <p:nvSpPr>
          <p:cNvPr id="14" name="Shape 12"/>
          <p:cNvSpPr/>
          <p:nvPr/>
        </p:nvSpPr>
        <p:spPr>
          <a:xfrm>
            <a:off x="3689350" y="4818261"/>
            <a:ext cx="2139950" cy="12700"/>
          </a:xfrm>
          <a:prstGeom prst="rect">
            <a:avLst/>
          </a:prstGeom>
          <a:solidFill>
            <a:srgbClr val="FFFFFF"/>
          </a:solidFill>
          <a:ln/>
        </p:spPr>
        <p:txBody>
          <a:bodyPr/>
          <a:lstStyle/>
          <a:p>
            <a:endParaRPr lang="de-DE"/>
          </a:p>
        </p:txBody>
      </p:sp>
      <p:sp>
        <p:nvSpPr>
          <p:cNvPr id="15" name="Text 13"/>
          <p:cNvSpPr/>
          <p:nvPr/>
        </p:nvSpPr>
        <p:spPr>
          <a:xfrm>
            <a:off x="3689350" y="4907161"/>
            <a:ext cx="220414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6A1B"/>
                </a:solidFill>
                <a:latin typeface="Geist" pitchFamily="34" charset="0"/>
                <a:ea typeface="Geist" pitchFamily="34" charset="-122"/>
                <a:cs typeface="Geist" pitchFamily="34" charset="-120"/>
              </a:rPr>
              <a:t>Für uns</a:t>
            </a:r>
            <a:endParaRPr lang="en-US" sz="1200" dirty="0"/>
          </a:p>
        </p:txBody>
      </p:sp>
      <p:sp>
        <p:nvSpPr>
          <p:cNvPr id="16" name="Text 14"/>
          <p:cNvSpPr/>
          <p:nvPr/>
        </p:nvSpPr>
        <p:spPr>
          <a:xfrm>
            <a:off x="3689350" y="5196681"/>
            <a:ext cx="2204149"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Kräftige Wortmarke mit einfachem Bildzeichen</a:t>
            </a:r>
            <a:endParaRPr lang="en-US" sz="1300" dirty="0"/>
          </a:p>
        </p:txBody>
      </p:sp>
      <p:sp>
        <p:nvSpPr>
          <p:cNvPr id="17" name="Shape 15"/>
          <p:cNvSpPr/>
          <p:nvPr/>
        </p:nvSpPr>
        <p:spPr>
          <a:xfrm>
            <a:off x="6159500" y="3575050"/>
            <a:ext cx="2546350" cy="2470150"/>
          </a:xfrm>
          <a:prstGeom prst="rect">
            <a:avLst/>
          </a:prstGeom>
          <a:solidFill>
            <a:srgbClr val="1F5F6B"/>
          </a:solidFill>
          <a:ln/>
        </p:spPr>
        <p:txBody>
          <a:bodyPr/>
          <a:lstStyle/>
          <a:p>
            <a:endParaRPr lang="de-DE"/>
          </a:p>
        </p:txBody>
      </p:sp>
      <p:sp>
        <p:nvSpPr>
          <p:cNvPr id="18" name="Text 16"/>
          <p:cNvSpPr/>
          <p:nvPr/>
        </p:nvSpPr>
        <p:spPr>
          <a:xfrm>
            <a:off x="6362700" y="3778250"/>
            <a:ext cx="220414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Namen und Slogans</a:t>
            </a:r>
            <a:endParaRPr lang="en-US" sz="1600" dirty="0"/>
          </a:p>
        </p:txBody>
      </p:sp>
      <p:sp>
        <p:nvSpPr>
          <p:cNvPr id="19" name="Text 17"/>
          <p:cNvSpPr/>
          <p:nvPr/>
        </p:nvSpPr>
        <p:spPr>
          <a:xfrm>
            <a:off x="6362700" y="4098230"/>
            <a:ext cx="2204149"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Die Region nennt keiner, „Lösung“ und „Profi“ sind vergeben</a:t>
            </a:r>
            <a:endParaRPr lang="en-US" sz="1300" dirty="0"/>
          </a:p>
        </p:txBody>
      </p:sp>
      <p:sp>
        <p:nvSpPr>
          <p:cNvPr id="20" name="Shape 18"/>
          <p:cNvSpPr/>
          <p:nvPr/>
        </p:nvSpPr>
        <p:spPr>
          <a:xfrm>
            <a:off x="6362700" y="4818261"/>
            <a:ext cx="2139950" cy="12700"/>
          </a:xfrm>
          <a:prstGeom prst="rect">
            <a:avLst/>
          </a:prstGeom>
          <a:solidFill>
            <a:srgbClr val="FFFFFF"/>
          </a:solidFill>
          <a:ln/>
        </p:spPr>
        <p:txBody>
          <a:bodyPr/>
          <a:lstStyle/>
          <a:p>
            <a:endParaRPr lang="de-DE"/>
          </a:p>
        </p:txBody>
      </p:sp>
      <p:sp>
        <p:nvSpPr>
          <p:cNvPr id="21" name="Text 19"/>
          <p:cNvSpPr/>
          <p:nvPr/>
        </p:nvSpPr>
        <p:spPr>
          <a:xfrm>
            <a:off x="6362700" y="4907161"/>
            <a:ext cx="220414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6A1B"/>
                </a:solidFill>
                <a:latin typeface="Geist" pitchFamily="34" charset="0"/>
                <a:ea typeface="Geist" pitchFamily="34" charset="-122"/>
                <a:cs typeface="Geist" pitchFamily="34" charset="-120"/>
              </a:rPr>
              <a:t>Für uns</a:t>
            </a:r>
            <a:endParaRPr lang="en-US" sz="1200" dirty="0"/>
          </a:p>
        </p:txBody>
      </p:sp>
      <p:sp>
        <p:nvSpPr>
          <p:cNvPr id="22" name="Text 20"/>
          <p:cNvSpPr/>
          <p:nvPr/>
        </p:nvSpPr>
        <p:spPr>
          <a:xfrm>
            <a:off x="6362700" y="5196681"/>
            <a:ext cx="2204149"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NRW in den Namen, Slogan mit Region und unseren Stärken</a:t>
            </a:r>
            <a:endParaRPr lang="en-US" sz="1300" dirty="0"/>
          </a:p>
        </p:txBody>
      </p:sp>
      <p:sp>
        <p:nvSpPr>
          <p:cNvPr id="23" name="Shape 21"/>
          <p:cNvSpPr/>
          <p:nvPr/>
        </p:nvSpPr>
        <p:spPr>
          <a:xfrm>
            <a:off x="8832850" y="3575050"/>
            <a:ext cx="2546350" cy="2470150"/>
          </a:xfrm>
          <a:prstGeom prst="rect">
            <a:avLst/>
          </a:prstGeom>
          <a:solidFill>
            <a:srgbClr val="1F5F6B"/>
          </a:solidFill>
          <a:ln/>
        </p:spPr>
        <p:txBody>
          <a:bodyPr/>
          <a:lstStyle/>
          <a:p>
            <a:endParaRPr lang="de-DE"/>
          </a:p>
        </p:txBody>
      </p:sp>
      <p:sp>
        <p:nvSpPr>
          <p:cNvPr id="24" name="Text 22"/>
          <p:cNvSpPr/>
          <p:nvPr/>
        </p:nvSpPr>
        <p:spPr>
          <a:xfrm>
            <a:off x="9036050" y="3778250"/>
            <a:ext cx="220414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26A1B"/>
                </a:solidFill>
                <a:latin typeface="Geist" pitchFamily="34" charset="0"/>
                <a:ea typeface="Geist" pitchFamily="34" charset="-122"/>
                <a:cs typeface="Geist" pitchFamily="34" charset="-120"/>
              </a:rPr>
              <a:t>Schriften</a:t>
            </a:r>
            <a:endParaRPr lang="en-US" sz="1600" dirty="0"/>
          </a:p>
        </p:txBody>
      </p:sp>
      <p:sp>
        <p:nvSpPr>
          <p:cNvPr id="25" name="Text 23"/>
          <p:cNvSpPr/>
          <p:nvPr/>
        </p:nvSpPr>
        <p:spPr>
          <a:xfrm>
            <a:off x="9036050" y="4098230"/>
            <a:ext cx="2204149"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Roboto bei fünf Anbietern, kaum Abwechslung</a:t>
            </a:r>
            <a:endParaRPr lang="en-US" sz="1300" dirty="0"/>
          </a:p>
          <a:p>
            <a:pPr marL="0" indent="0" algn="l">
              <a:lnSpc>
                <a:spcPts val="1690"/>
              </a:lnSpc>
              <a:buNone/>
            </a:pPr>
            <a:r>
              <a:rPr lang="en-US" sz="1300" dirty="0">
                <a:solidFill>
                  <a:srgbClr val="1F5F6B"/>
                </a:solidFill>
                <a:latin typeface="Geist" pitchFamily="34" charset="0"/>
                <a:ea typeface="Geist" pitchFamily="34" charset="-122"/>
                <a:cs typeface="Geist" pitchFamily="34" charset="-120"/>
              </a:rPr>
              <a:t>e</a:t>
            </a:r>
            <a:endParaRPr lang="en-US" sz="1300" dirty="0"/>
          </a:p>
        </p:txBody>
      </p:sp>
      <p:sp>
        <p:nvSpPr>
          <p:cNvPr id="26" name="Shape 24"/>
          <p:cNvSpPr/>
          <p:nvPr/>
        </p:nvSpPr>
        <p:spPr>
          <a:xfrm>
            <a:off x="9036050" y="4818261"/>
            <a:ext cx="2139950" cy="12700"/>
          </a:xfrm>
          <a:prstGeom prst="rect">
            <a:avLst/>
          </a:prstGeom>
          <a:solidFill>
            <a:srgbClr val="FFFFFF"/>
          </a:solidFill>
          <a:ln/>
        </p:spPr>
        <p:txBody>
          <a:bodyPr/>
          <a:lstStyle/>
          <a:p>
            <a:endParaRPr lang="de-DE"/>
          </a:p>
        </p:txBody>
      </p:sp>
      <p:sp>
        <p:nvSpPr>
          <p:cNvPr id="27" name="Text 25"/>
          <p:cNvSpPr/>
          <p:nvPr/>
        </p:nvSpPr>
        <p:spPr>
          <a:xfrm>
            <a:off x="9036050" y="4907161"/>
            <a:ext cx="220414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6A1B"/>
                </a:solidFill>
                <a:latin typeface="Geist" pitchFamily="34" charset="0"/>
                <a:ea typeface="Geist" pitchFamily="34" charset="-122"/>
                <a:cs typeface="Geist" pitchFamily="34" charset="-120"/>
              </a:rPr>
              <a:t>Für uns</a:t>
            </a:r>
            <a:endParaRPr lang="en-US" sz="1200" dirty="0"/>
          </a:p>
        </p:txBody>
      </p:sp>
      <p:sp>
        <p:nvSpPr>
          <p:cNvPr id="28" name="Text 26"/>
          <p:cNvSpPr/>
          <p:nvPr/>
        </p:nvSpPr>
        <p:spPr>
          <a:xfrm>
            <a:off x="9036050" y="5196681"/>
            <a:ext cx="2204149"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FFFFF"/>
                </a:solidFill>
                <a:latin typeface="Geist" pitchFamily="34" charset="0"/>
                <a:ea typeface="Geist" pitchFamily="34" charset="-122"/>
                <a:cs typeface="Geist" pitchFamily="34" charset="-120"/>
              </a:rPr>
              <a:t>nicht Roboto</a:t>
            </a:r>
            <a:endParaRPr lang="en-US" sz="1300" dirty="0"/>
          </a:p>
        </p:txBody>
      </p:sp>
      <p:sp>
        <p:nvSpPr>
          <p:cNvPr id="29" name="Text 27"/>
          <p:cNvSpPr/>
          <p:nvPr/>
        </p:nvSpPr>
        <p:spPr>
          <a:xfrm>
            <a:off x="812800" y="2565400"/>
            <a:ext cx="10883392"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FFFFFF"/>
                </a:solidFill>
                <a:latin typeface="Geist" pitchFamily="34" charset="0"/>
                <a:ea typeface="Geist" pitchFamily="34" charset="-122"/>
                <a:cs typeface="Geist" pitchFamily="34" charset="-120"/>
              </a:rPr>
              <a:t>Verglichen nach Logo, Farben, Schrift und Slogan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ALLES VERGLICHEN</a:t>
            </a:r>
            <a:endParaRPr lang="en-US" sz="3600" dirty="0"/>
          </a:p>
        </p:txBody>
      </p:sp>
      <p:sp>
        <p:nvSpPr>
          <p:cNvPr id="3" name="Text 1"/>
          <p:cNvSpPr/>
          <p:nvPr/>
        </p:nvSpPr>
        <p:spPr>
          <a:xfrm>
            <a:off x="812800" y="13944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6A1B"/>
                </a:solidFill>
                <a:latin typeface="Geist" pitchFamily="34" charset="0"/>
                <a:ea typeface="Geist" pitchFamily="34" charset="-122"/>
                <a:cs typeface="Geist" pitchFamily="34" charset="-120"/>
              </a:rPr>
              <a:t>SCHRITT 3 | #39 CORPORATE DESIGN</a:t>
            </a:r>
            <a:endParaRPr lang="en-US" sz="1200" dirty="0"/>
          </a:p>
        </p:txBody>
      </p:sp>
      <p:sp>
        <p:nvSpPr>
          <p:cNvPr id="4" name="Shape 2"/>
          <p:cNvSpPr/>
          <p:nvPr/>
        </p:nvSpPr>
        <p:spPr>
          <a:xfrm>
            <a:off x="812800" y="2622550"/>
            <a:ext cx="2546350" cy="2120900"/>
          </a:xfrm>
          <a:prstGeom prst="rect">
            <a:avLst/>
          </a:prstGeom>
          <a:solidFill>
            <a:srgbClr val="1F5F6B"/>
          </a:solidFill>
          <a:ln/>
        </p:spPr>
        <p:txBody>
          <a:bodyPr/>
          <a:lstStyle/>
          <a:p>
            <a:endParaRPr lang="de-DE"/>
          </a:p>
        </p:txBody>
      </p:sp>
      <p:sp>
        <p:nvSpPr>
          <p:cNvPr id="5" name="Text 3"/>
          <p:cNvSpPr/>
          <p:nvPr/>
        </p:nvSpPr>
        <p:spPr>
          <a:xfrm>
            <a:off x="1066800" y="2876550"/>
            <a:ext cx="209950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26A1B"/>
                </a:solidFill>
                <a:latin typeface="Geist" pitchFamily="34" charset="0"/>
                <a:ea typeface="Geist" pitchFamily="34" charset="-122"/>
                <a:cs typeface="Geist" pitchFamily="34" charset="-120"/>
              </a:rPr>
              <a:t>19</a:t>
            </a:r>
            <a:endParaRPr lang="en-US" sz="6000" dirty="0"/>
          </a:p>
        </p:txBody>
      </p:sp>
      <p:sp>
        <p:nvSpPr>
          <p:cNvPr id="6" name="Text 4"/>
          <p:cNvSpPr/>
          <p:nvPr/>
        </p:nvSpPr>
        <p:spPr>
          <a:xfrm>
            <a:off x="1066800" y="3714750"/>
            <a:ext cx="2099501"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Geist" pitchFamily="34" charset="0"/>
                <a:ea typeface="Geist" pitchFamily="34" charset="-122"/>
                <a:cs typeface="Geist" pitchFamily="34" charset="-120"/>
              </a:rPr>
              <a:t>Namen</a:t>
            </a:r>
            <a:endParaRPr lang="en-US" sz="1400" dirty="0"/>
          </a:p>
        </p:txBody>
      </p:sp>
      <p:sp>
        <p:nvSpPr>
          <p:cNvPr id="7" name="Text 5"/>
          <p:cNvSpPr/>
          <p:nvPr/>
        </p:nvSpPr>
        <p:spPr>
          <a:xfrm>
            <a:off x="1066800" y="4022030"/>
            <a:ext cx="2099501"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FFFFF"/>
                </a:solidFill>
                <a:latin typeface="Geist" pitchFamily="34" charset="0"/>
                <a:ea typeface="Geist" pitchFamily="34" charset="-122"/>
                <a:cs typeface="Geist" pitchFamily="34" charset="-120"/>
              </a:rPr>
              <a:t>Kettenhof NRW</a:t>
            </a:r>
            <a:endParaRPr lang="en-US" sz="1400" dirty="0"/>
          </a:p>
        </p:txBody>
      </p:sp>
      <p:sp>
        <p:nvSpPr>
          <p:cNvPr id="8" name="Shape 6"/>
          <p:cNvSpPr/>
          <p:nvPr/>
        </p:nvSpPr>
        <p:spPr>
          <a:xfrm>
            <a:off x="3486150" y="2622550"/>
            <a:ext cx="2546350" cy="2120900"/>
          </a:xfrm>
          <a:prstGeom prst="rect">
            <a:avLst/>
          </a:prstGeom>
          <a:solidFill>
            <a:srgbClr val="1F5F6B"/>
          </a:solidFill>
          <a:ln/>
        </p:spPr>
        <p:txBody>
          <a:bodyPr/>
          <a:lstStyle/>
          <a:p>
            <a:endParaRPr lang="de-DE"/>
          </a:p>
        </p:txBody>
      </p:sp>
      <p:sp>
        <p:nvSpPr>
          <p:cNvPr id="9" name="Text 7"/>
          <p:cNvSpPr/>
          <p:nvPr/>
        </p:nvSpPr>
        <p:spPr>
          <a:xfrm>
            <a:off x="3740150" y="2876550"/>
            <a:ext cx="209950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26A1B"/>
                </a:solidFill>
                <a:latin typeface="Geist" pitchFamily="34" charset="0"/>
                <a:ea typeface="Geist" pitchFamily="34" charset="-122"/>
                <a:cs typeface="Geist" pitchFamily="34" charset="-120"/>
              </a:rPr>
              <a:t>18</a:t>
            </a:r>
            <a:endParaRPr lang="en-US" sz="6000" dirty="0"/>
          </a:p>
        </p:txBody>
      </p:sp>
      <p:sp>
        <p:nvSpPr>
          <p:cNvPr id="10" name="Text 8"/>
          <p:cNvSpPr/>
          <p:nvPr/>
        </p:nvSpPr>
        <p:spPr>
          <a:xfrm>
            <a:off x="3740150" y="3714750"/>
            <a:ext cx="2099501"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Geist" pitchFamily="34" charset="0"/>
                <a:ea typeface="Geist" pitchFamily="34" charset="-122"/>
                <a:cs typeface="Geist" pitchFamily="34" charset="-120"/>
              </a:rPr>
              <a:t>Farben kombiniert</a:t>
            </a:r>
            <a:endParaRPr lang="en-US" sz="1400" dirty="0"/>
          </a:p>
        </p:txBody>
      </p:sp>
      <p:sp>
        <p:nvSpPr>
          <p:cNvPr id="11" name="Text 9"/>
          <p:cNvSpPr/>
          <p:nvPr/>
        </p:nvSpPr>
        <p:spPr>
          <a:xfrm>
            <a:off x="3740150" y="4022030"/>
            <a:ext cx="2099501" cy="487561"/>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FFFFF"/>
                </a:solidFill>
                <a:latin typeface="Geist" pitchFamily="34" charset="0"/>
                <a:ea typeface="Geist" pitchFamily="34" charset="-122"/>
                <a:cs typeface="Geist" pitchFamily="34" charset="-120"/>
              </a:rPr>
              <a:t>Schwarz, Petrol, Orange</a:t>
            </a:r>
            <a:endParaRPr lang="en-US" sz="1400" dirty="0"/>
          </a:p>
        </p:txBody>
      </p:sp>
      <p:sp>
        <p:nvSpPr>
          <p:cNvPr id="12" name="Shape 10"/>
          <p:cNvSpPr/>
          <p:nvPr/>
        </p:nvSpPr>
        <p:spPr>
          <a:xfrm>
            <a:off x="6159500" y="2622550"/>
            <a:ext cx="2546350" cy="2120900"/>
          </a:xfrm>
          <a:prstGeom prst="rect">
            <a:avLst/>
          </a:prstGeom>
          <a:solidFill>
            <a:srgbClr val="1F5F6B"/>
          </a:solidFill>
          <a:ln/>
        </p:spPr>
        <p:txBody>
          <a:bodyPr/>
          <a:lstStyle/>
          <a:p>
            <a:endParaRPr lang="de-DE"/>
          </a:p>
        </p:txBody>
      </p:sp>
      <p:sp>
        <p:nvSpPr>
          <p:cNvPr id="13" name="Text 11"/>
          <p:cNvSpPr/>
          <p:nvPr/>
        </p:nvSpPr>
        <p:spPr>
          <a:xfrm>
            <a:off x="6413500" y="2876550"/>
            <a:ext cx="209950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26A1B"/>
                </a:solidFill>
                <a:latin typeface="Geist" pitchFamily="34" charset="0"/>
                <a:ea typeface="Geist" pitchFamily="34" charset="-122"/>
                <a:cs typeface="Geist" pitchFamily="34" charset="-120"/>
              </a:rPr>
              <a:t>23</a:t>
            </a:r>
            <a:endParaRPr lang="en-US" sz="6000" dirty="0"/>
          </a:p>
        </p:txBody>
      </p:sp>
      <p:sp>
        <p:nvSpPr>
          <p:cNvPr id="14" name="Text 12"/>
          <p:cNvSpPr/>
          <p:nvPr/>
        </p:nvSpPr>
        <p:spPr>
          <a:xfrm>
            <a:off x="6413500" y="3714750"/>
            <a:ext cx="2099501"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Geist" pitchFamily="34" charset="0"/>
                <a:ea typeface="Geist" pitchFamily="34" charset="-122"/>
                <a:cs typeface="Geist" pitchFamily="34" charset="-120"/>
              </a:rPr>
              <a:t>Schriften kombiniert</a:t>
            </a:r>
            <a:endParaRPr lang="en-US" sz="1400" dirty="0"/>
          </a:p>
        </p:txBody>
      </p:sp>
      <p:sp>
        <p:nvSpPr>
          <p:cNvPr id="15" name="Text 13"/>
          <p:cNvSpPr/>
          <p:nvPr/>
        </p:nvSpPr>
        <p:spPr>
          <a:xfrm>
            <a:off x="6413500" y="4022030"/>
            <a:ext cx="2099501"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FFFFF"/>
                </a:solidFill>
                <a:latin typeface="Geist" pitchFamily="34" charset="0"/>
                <a:ea typeface="Geist" pitchFamily="34" charset="-122"/>
                <a:cs typeface="Geist" pitchFamily="34" charset="-120"/>
              </a:rPr>
              <a:t>Geist, FrontMan</a:t>
            </a:r>
            <a:endParaRPr lang="en-US" sz="1400" dirty="0"/>
          </a:p>
        </p:txBody>
      </p:sp>
      <p:sp>
        <p:nvSpPr>
          <p:cNvPr id="16" name="Shape 14"/>
          <p:cNvSpPr/>
          <p:nvPr/>
        </p:nvSpPr>
        <p:spPr>
          <a:xfrm>
            <a:off x="8832850" y="2622550"/>
            <a:ext cx="2546350" cy="2120900"/>
          </a:xfrm>
          <a:prstGeom prst="rect">
            <a:avLst/>
          </a:prstGeom>
          <a:solidFill>
            <a:srgbClr val="1F5F6B"/>
          </a:solidFill>
          <a:ln/>
        </p:spPr>
        <p:txBody>
          <a:bodyPr/>
          <a:lstStyle/>
          <a:p>
            <a:endParaRPr lang="de-DE"/>
          </a:p>
        </p:txBody>
      </p:sp>
      <p:sp>
        <p:nvSpPr>
          <p:cNvPr id="17" name="Text 15"/>
          <p:cNvSpPr/>
          <p:nvPr/>
        </p:nvSpPr>
        <p:spPr>
          <a:xfrm>
            <a:off x="9086850" y="2876550"/>
            <a:ext cx="2099501"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26A1B"/>
                </a:solidFill>
                <a:latin typeface="Geist" pitchFamily="34" charset="0"/>
                <a:ea typeface="Geist" pitchFamily="34" charset="-122"/>
                <a:cs typeface="Geist" pitchFamily="34" charset="-120"/>
              </a:rPr>
              <a:t>17</a:t>
            </a:r>
            <a:endParaRPr lang="en-US" sz="6000" dirty="0"/>
          </a:p>
        </p:txBody>
      </p:sp>
      <p:sp>
        <p:nvSpPr>
          <p:cNvPr id="18" name="Text 16"/>
          <p:cNvSpPr/>
          <p:nvPr/>
        </p:nvSpPr>
        <p:spPr>
          <a:xfrm>
            <a:off x="9086850" y="3714750"/>
            <a:ext cx="2099501" cy="2564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FFFFF"/>
                </a:solidFill>
                <a:latin typeface="Geist" pitchFamily="34" charset="0"/>
                <a:ea typeface="Geist" pitchFamily="34" charset="-122"/>
                <a:cs typeface="Geist" pitchFamily="34" charset="-120"/>
              </a:rPr>
              <a:t>Logo-Entwürfe</a:t>
            </a:r>
            <a:endParaRPr lang="en-US" sz="1400" dirty="0"/>
          </a:p>
        </p:txBody>
      </p:sp>
      <p:sp>
        <p:nvSpPr>
          <p:cNvPr id="19" name="Text 17"/>
          <p:cNvSpPr/>
          <p:nvPr/>
        </p:nvSpPr>
        <p:spPr>
          <a:xfrm>
            <a:off x="9086850" y="4022030"/>
            <a:ext cx="2099501" cy="487561"/>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FFFFF"/>
                </a:solidFill>
                <a:latin typeface="Geist" pitchFamily="34" charset="0"/>
                <a:ea typeface="Geist" pitchFamily="34" charset="-122"/>
                <a:cs typeface="Geist" pitchFamily="34" charset="-120"/>
              </a:rPr>
              <a:t>Kettenhof mit dezenter Kette</a:t>
            </a:r>
            <a:endParaRPr lang="en-US" sz="1400" dirty="0"/>
          </a:p>
        </p:txBody>
      </p:sp>
      <p:sp>
        <p:nvSpPr>
          <p:cNvPr id="20" name="Text 18"/>
          <p:cNvSpPr/>
          <p:nvPr/>
        </p:nvSpPr>
        <p:spPr>
          <a:xfrm>
            <a:off x="812800" y="5748040"/>
            <a:ext cx="10883392"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FFFFF"/>
                </a:solidFill>
                <a:latin typeface="Geist" pitchFamily="34" charset="0"/>
                <a:ea typeface="Geist" pitchFamily="34" charset="-122"/>
                <a:cs typeface="Geist" pitchFamily="34" charset="-120"/>
              </a:rPr>
              <a:t>Kette steht für </a:t>
            </a:r>
            <a:r>
              <a:rPr lang="en-US" sz="1800" b="1" dirty="0">
                <a:solidFill>
                  <a:srgbClr val="F26A1B"/>
                </a:solidFill>
                <a:latin typeface="Geist" pitchFamily="34" charset="0"/>
                <a:ea typeface="Geist" pitchFamily="34" charset="-122"/>
                <a:cs typeface="Geist" pitchFamily="34" charset="-120"/>
              </a:rPr>
              <a:t>Bagger, Motorsäge und Filialkette.</a:t>
            </a:r>
            <a:r>
              <a:rPr lang="en-US" sz="1800" b="1" dirty="0">
                <a:solidFill>
                  <a:srgbClr val="FFFFFF"/>
                </a:solidFill>
                <a:latin typeface="Geist" pitchFamily="34" charset="0"/>
                <a:ea typeface="Geist" pitchFamily="34" charset="-122"/>
                <a:cs typeface="Geist" pitchFamily="34" charset="-120"/>
              </a:rPr>
              <a:t> Hof für Familienbetrieb, NRW für die Region.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5420"/>
          </a:xfrm>
          <a:prstGeom prst="rect">
            <a:avLst/>
          </a:prstGeom>
          <a:noFill/>
          <a:ln/>
        </p:spPr>
        <p:txBody>
          <a:bodyPr wrap="square" lIns="0" tIns="0" rIns="0" bIns="0" rtlCol="0" anchor="t">
            <a:normAutofit/>
          </a:bodyPr>
          <a:lstStyle/>
          <a:p>
            <a:pPr marL="0" indent="0" algn="l">
              <a:lnSpc>
                <a:spcPts val="3780"/>
              </a:lnSpc>
              <a:buNone/>
            </a:pPr>
            <a:r>
              <a:rPr lang="en-US" sz="3600" b="1" i="0" dirty="0">
                <a:solidFill>
                  <a:srgbClr val="FFFFFF"/>
                </a:solidFill>
                <a:latin typeface="Geist" pitchFamily="34" charset="0"/>
                <a:ea typeface="Geist" pitchFamily="34" charset="-122"/>
                <a:cs typeface="Geist" pitchFamily="34" charset="-120"/>
              </a:rPr>
              <a:t>BEARBEITETE USER STORIES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968500"/>
          <a:ext cx="10553700" cy="3261221"/>
        </p:xfrm>
        <a:graphic>
          <a:graphicData uri="http://schemas.openxmlformats.org/drawingml/2006/table">
            <a:tbl>
              <a:tblPr/>
              <a:tblGrid>
                <a:gridCol w="2638425">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2638425">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tblGrid>
              <a:tr h="601960">
                <a:tc>
                  <a:txBody>
                    <a:bodyPr/>
                    <a:lstStyle/>
                    <a:p>
                      <a:pPr marL="0" indent="0">
                        <a:lnSpc>
                          <a:spcPts val="2240"/>
                        </a:lnSpc>
                        <a:buNone/>
                      </a:pPr>
                      <a:r>
                        <a:rPr lang="en-US" sz="1600" b="1" dirty="0">
                          <a:solidFill>
                            <a:srgbClr val="FFFFFF"/>
                          </a:solidFill>
                          <a:latin typeface="Geist" pitchFamily="34" charset="0"/>
                          <a:ea typeface="Geist" pitchFamily="34" charset="-122"/>
                          <a:cs typeface="Geist" pitchFamily="34" charset="-120"/>
                        </a:rPr>
                        <a:t>Story</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47464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474646"/>
                      </a:solidFill>
                      <a:prstDash val="solid"/>
                      <a:round/>
                      <a:headEnd type="none" w="med" len="med"/>
                      <a:tailEnd type="none" w="med" len="med"/>
                    </a:lnB>
                    <a:solidFill>
                      <a:srgbClr val="141414"/>
                    </a:solidFill>
                  </a:tcPr>
                </a:tc>
                <a:tc>
                  <a:txBody>
                    <a:bodyPr/>
                    <a:lstStyle/>
                    <a:p>
                      <a:pPr marL="0" indent="0">
                        <a:lnSpc>
                          <a:spcPts val="2240"/>
                        </a:lnSpc>
                        <a:buNone/>
                      </a:pPr>
                      <a:r>
                        <a:rPr lang="en-US" sz="1600" b="1" dirty="0">
                          <a:solidFill>
                            <a:srgbClr val="FFFFFF"/>
                          </a:solidFill>
                          <a:latin typeface="Geist" pitchFamily="34" charset="0"/>
                          <a:ea typeface="Geist" pitchFamily="34" charset="-122"/>
                          <a:cs typeface="Geist" pitchFamily="34" charset="-120"/>
                        </a:rPr>
                        <a:t>Inhalt</a:t>
                      </a:r>
                      <a:endParaRPr lang="en-US" sz="1600" dirty="0">
                        <a:latin typeface="Geist" charset="0"/>
                        <a:ea typeface="Geist" charset="0"/>
                        <a:cs typeface="Geist" charset="0"/>
                      </a:endParaRPr>
                    </a:p>
                  </a:txBody>
                  <a:tcPr marL="152400" marR="152400" marT="152400" marB="152400">
                    <a:lnL w="12700" cap="flat" cmpd="sng" algn="ctr">
                      <a:solidFill>
                        <a:srgbClr val="474646"/>
                      </a:solidFill>
                      <a:prstDash val="solid"/>
                      <a:round/>
                      <a:headEnd type="none" w="med" len="med"/>
                      <a:tailEnd type="none" w="med" len="med"/>
                    </a:lnL>
                    <a:lnR w="12700" cap="flat" cmpd="sng" algn="ctr">
                      <a:solidFill>
                        <a:srgbClr val="47464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474646"/>
                      </a:solidFill>
                      <a:prstDash val="solid"/>
                      <a:round/>
                      <a:headEnd type="none" w="med" len="med"/>
                      <a:tailEnd type="none" w="med" len="med"/>
                    </a:lnB>
                    <a:solidFill>
                      <a:srgbClr val="141414"/>
                    </a:solidFill>
                  </a:tcPr>
                </a:tc>
                <a:tc>
                  <a:txBody>
                    <a:bodyPr/>
                    <a:lstStyle/>
                    <a:p>
                      <a:pPr marL="0" indent="0">
                        <a:lnSpc>
                          <a:spcPts val="2240"/>
                        </a:lnSpc>
                        <a:buNone/>
                      </a:pPr>
                      <a:r>
                        <a:rPr lang="en-US" sz="1600" b="1" dirty="0">
                          <a:solidFill>
                            <a:srgbClr val="FFFFFF"/>
                          </a:solidFill>
                          <a:latin typeface="Geist" pitchFamily="34" charset="0"/>
                          <a:ea typeface="Geist" pitchFamily="34" charset="-122"/>
                          <a:cs typeface="Geist" pitchFamily="34" charset="-120"/>
                        </a:rPr>
                        <a:t>Aufwand</a:t>
                      </a:r>
                      <a:endParaRPr lang="en-US" sz="1600" dirty="0">
                        <a:latin typeface="Geist" charset="0"/>
                        <a:ea typeface="Geist" charset="0"/>
                        <a:cs typeface="Geist" charset="0"/>
                      </a:endParaRPr>
                    </a:p>
                  </a:txBody>
                  <a:tcPr marL="152400" marR="152400" marT="152400" marB="152400">
                    <a:lnL w="12700" cap="flat" cmpd="sng" algn="ctr">
                      <a:solidFill>
                        <a:srgbClr val="474646"/>
                      </a:solidFill>
                      <a:prstDash val="solid"/>
                      <a:round/>
                      <a:headEnd type="none" w="med" len="med"/>
                      <a:tailEnd type="none" w="med" len="med"/>
                    </a:lnL>
                    <a:lnR w="12700" cap="flat" cmpd="sng" algn="ctr">
                      <a:solidFill>
                        <a:srgbClr val="47464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474646"/>
                      </a:solidFill>
                      <a:prstDash val="solid"/>
                      <a:round/>
                      <a:headEnd type="none" w="med" len="med"/>
                      <a:tailEnd type="none" w="med" len="med"/>
                    </a:lnB>
                    <a:solidFill>
                      <a:srgbClr val="141414"/>
                    </a:solidFill>
                  </a:tcPr>
                </a:tc>
                <a:tc>
                  <a:txBody>
                    <a:bodyPr/>
                    <a:lstStyle/>
                    <a:p>
                      <a:pPr marL="0" indent="0">
                        <a:lnSpc>
                          <a:spcPts val="2240"/>
                        </a:lnSpc>
                        <a:buNone/>
                      </a:pPr>
                      <a:r>
                        <a:rPr lang="en-US" sz="1600" b="1" dirty="0">
                          <a:solidFill>
                            <a:srgbClr val="FFFFFF"/>
                          </a:solidFill>
                          <a:latin typeface="Geist" pitchFamily="34" charset="0"/>
                          <a:ea typeface="Geist" pitchFamily="34" charset="-122"/>
                          <a:cs typeface="Geist" pitchFamily="34" charset="-120"/>
                        </a:rPr>
                        <a:t>Status</a:t>
                      </a:r>
                      <a:endParaRPr lang="en-US" sz="1600" dirty="0">
                        <a:latin typeface="Geist" charset="0"/>
                        <a:ea typeface="Geist" charset="0"/>
                        <a:cs typeface="Geist" charset="0"/>
                      </a:endParaRPr>
                    </a:p>
                  </a:txBody>
                  <a:tcPr marL="152400" marR="152400" marT="152400" marB="152400">
                    <a:lnL w="12700" cap="flat" cmpd="sng" algn="ctr">
                      <a:solidFill>
                        <a:srgbClr val="474646"/>
                      </a:solidFill>
                      <a:prstDash val="solid"/>
                      <a:round/>
                      <a:headEnd type="none" w="med" len="med"/>
                      <a:tailEnd type="none" w="med" len="med"/>
                    </a:lnL>
                    <a:lnR w="12700" cap="flat" cmpd="sng" algn="ctr">
                      <a:solidFill>
                        <a:srgbClr val="47464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474646"/>
                      </a:solidFill>
                      <a:prstDash val="solid"/>
                      <a:round/>
                      <a:headEnd type="none" w="med" len="med"/>
                      <a:tailEnd type="none" w="med" len="med"/>
                    </a:lnB>
                    <a:solidFill>
                      <a:srgbClr val="141414"/>
                    </a:solidFill>
                  </a:tcPr>
                </a:tc>
                <a:extLst>
                  <a:ext uri="{0D108BD9-81ED-4DB2-BD59-A6C34878D82A}">
                    <a16:rowId xmlns:a16="http://schemas.microsoft.com/office/drawing/2014/main" val="10000"/>
                  </a:ext>
                </a:extLst>
              </a:tr>
              <a:tr h="886420">
                <a:tc>
                  <a:txBody>
                    <a:bodyPr/>
                    <a:lstStyle/>
                    <a:p>
                      <a:pPr marL="0" indent="0">
                        <a:lnSpc>
                          <a:spcPts val="2240"/>
                        </a:lnSpc>
                        <a:buNone/>
                      </a:pPr>
                      <a:r>
                        <a:rPr lang="en-US" sz="1600" dirty="0">
                          <a:solidFill>
                            <a:srgbClr val="F26A1B"/>
                          </a:solidFill>
                          <a:latin typeface="Geist" pitchFamily="34" charset="0"/>
                          <a:ea typeface="Geist" pitchFamily="34" charset="-122"/>
                          <a:cs typeface="Geist" pitchFamily="34" charset="-120"/>
                        </a:rPr>
                        <a:t>#24</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47464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Marktanalyse und Umfeldanalyse</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47464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M</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47464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fertig</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47464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extLst>
                  <a:ext uri="{0D108BD9-81ED-4DB2-BD59-A6C34878D82A}">
                    <a16:rowId xmlns:a16="http://schemas.microsoft.com/office/drawing/2014/main" val="10001"/>
                  </a:ext>
                </a:extLst>
              </a:tr>
              <a:tr h="886420">
                <a:tc>
                  <a:txBody>
                    <a:bodyPr/>
                    <a:lstStyle/>
                    <a:p>
                      <a:pPr marL="0" indent="0">
                        <a:lnSpc>
                          <a:spcPts val="2240"/>
                        </a:lnSpc>
                        <a:buNone/>
                      </a:pPr>
                      <a:r>
                        <a:rPr lang="en-US" sz="1600" dirty="0">
                          <a:solidFill>
                            <a:srgbClr val="F26A1B"/>
                          </a:solidFill>
                          <a:latin typeface="Geist" pitchFamily="34" charset="0"/>
                          <a:ea typeface="Geist" pitchFamily="34" charset="-122"/>
                          <a:cs typeface="Geist" pitchFamily="34" charset="-120"/>
                        </a:rPr>
                        <a:t>#25</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Marketingziele und Strategien</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M</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fertig</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extLst>
                  <a:ext uri="{0D108BD9-81ED-4DB2-BD59-A6C34878D82A}">
                    <a16:rowId xmlns:a16="http://schemas.microsoft.com/office/drawing/2014/main" val="10002"/>
                  </a:ext>
                </a:extLst>
              </a:tr>
              <a:tr h="886420">
                <a:tc>
                  <a:txBody>
                    <a:bodyPr/>
                    <a:lstStyle/>
                    <a:p>
                      <a:pPr marL="0" indent="0">
                        <a:lnSpc>
                          <a:spcPts val="2240"/>
                        </a:lnSpc>
                        <a:buNone/>
                      </a:pPr>
                      <a:r>
                        <a:rPr lang="en-US" sz="1600" dirty="0">
                          <a:solidFill>
                            <a:srgbClr val="F26A1B"/>
                          </a:solidFill>
                          <a:latin typeface="Geist" pitchFamily="34" charset="0"/>
                          <a:ea typeface="Geist" pitchFamily="34" charset="-122"/>
                          <a:cs typeface="Geist" pitchFamily="34" charset="-120"/>
                        </a:rPr>
                        <a:t>#39</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Entwicklung des Corporate Designs</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L</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tc>
                  <a:txBody>
                    <a:bodyPr/>
                    <a:lstStyle/>
                    <a:p>
                      <a:pPr marL="0" indent="0">
                        <a:lnSpc>
                          <a:spcPts val="2240"/>
                        </a:lnSpc>
                        <a:buNone/>
                      </a:pPr>
                      <a:r>
                        <a:rPr lang="en-US" sz="1600" dirty="0">
                          <a:solidFill>
                            <a:srgbClr val="FFFFFF"/>
                          </a:solidFill>
                          <a:latin typeface="Geist" pitchFamily="34" charset="0"/>
                          <a:ea typeface="Geist" pitchFamily="34" charset="-122"/>
                          <a:cs typeface="Geist" pitchFamily="34" charset="-120"/>
                        </a:rPr>
                        <a:t>fertig</a:t>
                      </a:r>
                      <a:endParaRPr lang="en-US" sz="1600" dirty="0">
                        <a:latin typeface="Geist" charset="0"/>
                        <a:ea typeface="Geist" charset="0"/>
                        <a:cs typeface="Geist" charset="0"/>
                      </a:endParaRPr>
                    </a:p>
                  </a:txBody>
                  <a:tcPr marL="152400" marR="152400" marT="152400" marB="152400">
                    <a:lnL w="12700" cap="flat" cmpd="sng" algn="ctr">
                      <a:solidFill>
                        <a:srgbClr val="373736"/>
                      </a:solidFill>
                      <a:prstDash val="solid"/>
                      <a:round/>
                      <a:headEnd type="none" w="med" len="med"/>
                      <a:tailEnd type="none" w="med" len="med"/>
                    </a:lnL>
                    <a:lnR w="12700" cap="flat" cmpd="sng" algn="ctr">
                      <a:solidFill>
                        <a:srgbClr val="373736"/>
                      </a:solidFill>
                      <a:prstDash val="solid"/>
                      <a:round/>
                      <a:headEnd type="none" w="med" len="med"/>
                      <a:tailEnd type="none" w="med" len="med"/>
                    </a:lnR>
                    <a:lnT w="12700" cap="flat" cmpd="sng" algn="ctr">
                      <a:solidFill>
                        <a:srgbClr val="373736"/>
                      </a:solidFill>
                      <a:prstDash val="solid"/>
                      <a:round/>
                      <a:headEnd type="none" w="med" len="med"/>
                      <a:tailEnd type="none" w="med" len="med"/>
                    </a:lnT>
                    <a:lnB w="12700" cap="flat" cmpd="sng" algn="ctr">
                      <a:solidFill>
                        <a:srgbClr val="37373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12800" y="5575300"/>
            <a:ext cx="10883392"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FFFFF"/>
                </a:solidFill>
                <a:latin typeface="Geist" pitchFamily="34" charset="0"/>
                <a:ea typeface="Geist" pitchFamily="34" charset="-122"/>
                <a:cs typeface="Geist" pitchFamily="34" charset="-120"/>
              </a:rPr>
              <a:t>Als Nächstes: </a:t>
            </a:r>
            <a:r>
              <a:rPr lang="en-US" sz="1600" b="1" dirty="0">
                <a:solidFill>
                  <a:srgbClr val="F26A1B"/>
                </a:solidFill>
                <a:latin typeface="Geist" pitchFamily="34" charset="0"/>
                <a:ea typeface="Geist" pitchFamily="34" charset="-122"/>
                <a:cs typeface="Geist" pitchFamily="34" charset="-120"/>
              </a:rPr>
              <a:t>#26 Marketing-Mix und Sales Funnel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pic>
        <p:nvPicPr>
          <p:cNvPr id="2" name="Image 0" descr="Logo Kettenhof NRW, Maschinenverleih NRW"/>
          <p:cNvPicPr>
            <a:picLocks noChangeAspect="1"/>
          </p:cNvPicPr>
          <p:nvPr/>
        </p:nvPicPr>
        <p:blipFill>
          <a:blip r:embed="rId3"/>
          <a:srcRect l="-17" r="-17"/>
          <a:stretch/>
        </p:blipFill>
        <p:spPr>
          <a:xfrm>
            <a:off x="1968500" y="127000"/>
            <a:ext cx="8255000" cy="4641850"/>
          </a:xfrm>
          <a:prstGeom prst="rect">
            <a:avLst/>
          </a:prstGeom>
        </p:spPr>
      </p:pic>
      <p:sp>
        <p:nvSpPr>
          <p:cNvPr id="3" name="Text 0"/>
          <p:cNvSpPr>
            <a:spLocks noGrp="1"/>
          </p:cNvSpPr>
          <p:nvPr>
            <p:ph type="title"/>
          </p:nvPr>
        </p:nvSpPr>
        <p:spPr>
          <a:xfrm>
            <a:off x="654304" y="4064000"/>
            <a:ext cx="10883392" cy="1198761"/>
          </a:xfrm>
          <a:prstGeom prst="rect">
            <a:avLst/>
          </a:prstGeom>
          <a:noFill/>
          <a:ln/>
        </p:spPr>
        <p:txBody>
          <a:bodyPr wrap="square" lIns="0" tIns="0" rIns="0" bIns="0" rtlCol="0" anchor="t">
            <a:normAutofit/>
          </a:bodyPr>
          <a:lstStyle/>
          <a:p>
            <a:pPr marL="0" indent="0" algn="ctr">
              <a:lnSpc>
                <a:spcPts val="4620"/>
              </a:lnSpc>
              <a:buNone/>
            </a:pPr>
            <a:r>
              <a:rPr lang="en-US" sz="4400" b="1" i="0" dirty="0">
                <a:solidFill>
                  <a:srgbClr val="FFFFFF"/>
                </a:solidFill>
                <a:latin typeface="Geist" pitchFamily="34" charset="0"/>
                <a:ea typeface="Geist" pitchFamily="34" charset="-122"/>
                <a:cs typeface="Geist" pitchFamily="34" charset="-120"/>
              </a:rPr>
              <a:t>LEIH AN RHEIN UND RUHR,</a:t>
            </a:r>
            <a:endParaRPr lang="en-US" sz="4400" dirty="0"/>
          </a:p>
          <a:p>
            <a:pPr marL="0" indent="0" algn="ctr">
              <a:lnSpc>
                <a:spcPts val="4620"/>
              </a:lnSpc>
              <a:buNone/>
            </a:pPr>
            <a:r>
              <a:rPr lang="en-US" sz="4400" b="1" i="0" dirty="0">
                <a:solidFill>
                  <a:srgbClr val="F26A1B"/>
                </a:solidFill>
                <a:latin typeface="Geist" pitchFamily="34" charset="0"/>
                <a:ea typeface="Geist" pitchFamily="34" charset="-122"/>
                <a:cs typeface="Geist" pitchFamily="34" charset="-120"/>
              </a:rPr>
              <a:t>RUND UM DIE UHR</a:t>
            </a:r>
            <a:endParaRPr lang="en-US" sz="4400" dirty="0"/>
          </a:p>
        </p:txBody>
      </p:sp>
    </p:spTree>
  </p:cSld>
  <p:clrMapOvr>
    <a:masterClrMapping/>
  </p:clrMapOvr>
</p:sld>
</file>

<file path=ppt/theme/theme1.xml><?xml version="1.0" encoding="utf-8"?>
<a:theme xmlns:a="http://schemas.openxmlformats.org/drawingml/2006/main" name="Kettenhof NRW Sprint-Review">
  <a:themeElements>
    <a:clrScheme name="Kettenhof NRW Sprint-Review">
      <a:dk1>
        <a:srgbClr val="000000"/>
      </a:dk1>
      <a:lt1>
        <a:srgbClr val="FFFFFF"/>
      </a:lt1>
      <a:dk2>
        <a:srgbClr val="1A1A1A"/>
      </a:dk2>
      <a:lt2>
        <a:srgbClr val="BFBFBF"/>
      </a:lt2>
      <a:accent1>
        <a:srgbClr val="F26A1B"/>
      </a:accent1>
      <a:accent2>
        <a:srgbClr val="1F5F6B"/>
      </a:accent2>
      <a:accent3>
        <a:srgbClr val="B8C4C7"/>
      </a:accent3>
      <a:accent4>
        <a:srgbClr val="5A6168"/>
      </a:accent4>
      <a:accent5>
        <a:srgbClr val="E3EAEC"/>
      </a:accent5>
      <a:accent6>
        <a:srgbClr val="262626"/>
      </a:accent6>
      <a:hlink>
        <a:srgbClr val="0563C1"/>
      </a:hlink>
      <a:folHlink>
        <a:srgbClr val="954F72"/>
      </a:folHlink>
    </a:clrScheme>
    <a:fontScheme name="Kettenhof NRW Sprint-Review">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1188</Words>
  <Application>Microsoft Office PowerPoint</Application>
  <PresentationFormat>Breitbild</PresentationFormat>
  <Paragraphs>190</Paragraphs>
  <Slides>12</Slides>
  <Notes>12</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12</vt:i4>
      </vt:variant>
    </vt:vector>
  </HeadingPairs>
  <TitlesOfParts>
    <vt:vector size="15" baseType="lpstr">
      <vt:lpstr>Arial</vt:lpstr>
      <vt:lpstr>Geist</vt:lpstr>
      <vt:lpstr>Kettenhof NRW Sprint-Review</vt:lpstr>
      <vt:lpstr>PowerPoint-Präsentation</vt:lpstr>
      <vt:lpstr>KETTENHOF NRW</vt:lpstr>
      <vt:lpstr>LEIH AN RHEIN UND RUHR RUND UM DIE UHR</vt:lpstr>
      <vt:lpstr>WIE BIN ICH DARAUF GEKOMMEN?</vt:lpstr>
      <vt:lpstr>VORGEHENSWEISE</vt:lpstr>
      <vt:lpstr>WIE SIEHT DER MARKT AUS?</vt:lpstr>
      <vt:lpstr>WAS WOLLEN WIR ERREICHEN?</vt:lpstr>
      <vt:lpstr>WEN SPRECHEN WIR AN?</vt:lpstr>
      <vt:lpstr>WETTBEWERBER ANALYSIERT</vt:lpstr>
      <vt:lpstr>ALLES VERGLICHEN</vt:lpstr>
      <vt:lpstr>BEARBEITETE USER STORIES</vt:lpstr>
      <vt:lpstr>LEIH AN RHEIN UND RUHR, RUND UM DIE UHR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Kettenhof NRW Sprint-Review</dc:title>
  <dc:subject/>
  <dc:creator/>
  <cp:lastModifiedBy>Jonas Strömich</cp:lastModifiedBy>
  <cp:revision>2</cp:revision>
  <dcterms:created xsi:type="dcterms:W3CDTF">2026-10-14T22:03:55Z</dcterms:created>
  <dcterms:modified xsi:type="dcterms:W3CDTF">2026-10-14T22:06:27Z</dcterms:modified>
</cp:coreProperties>
</file>